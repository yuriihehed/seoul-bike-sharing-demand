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8" r:id="rId5"/>
    <p:sldId id="257" r:id="rId6"/>
    <p:sldId id="268" r:id="rId7"/>
    <p:sldId id="269" r:id="rId8"/>
    <p:sldId id="270" r:id="rId9"/>
    <p:sldId id="278" r:id="rId10"/>
    <p:sldId id="279" r:id="rId11"/>
    <p:sldId id="280" r:id="rId12"/>
    <p:sldId id="282" r:id="rId13"/>
    <p:sldId id="281" r:id="rId14"/>
    <p:sldId id="283" r:id="rId15"/>
    <p:sldId id="284" r:id="rId16"/>
    <p:sldId id="285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567A"/>
    <a:srgbClr val="0D1D51"/>
    <a:srgbClr val="0072C7"/>
    <a:srgbClr val="6666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5" autoAdjust="0"/>
    <p:restoredTop sz="87959" autoAdjust="0"/>
  </p:normalViewPr>
  <p:slideViewPr>
    <p:cSldViewPr snapToGrid="0" showGuides="1">
      <p:cViewPr varScale="1">
        <p:scale>
          <a:sx n="112" d="100"/>
          <a:sy n="112" d="100"/>
        </p:scale>
        <p:origin x="1560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1560" y="-146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7243D74-B9C1-450A-B0F3-6C6DCB0CF20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C27C33-9BB1-41D5-A236-12767E7E722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AB3EA8-A58D-4C92-A3AB-D271CCC294C7}" type="datetimeFigureOut">
              <a:rPr lang="en-US" smtClean="0"/>
              <a:t>6/1/24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A7EADB-04A4-4093-B238-438E2C7317A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DD8696-706D-440E-AE04-4C644F0613E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2A5DE8-F2C4-4DB3-88D1-656DCD59E73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8243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AEFB4FA-E877-413E-B608-88789D806C57}" type="datetimeFigureOut">
              <a:rPr lang="en-US" noProof="0" smtClean="0"/>
              <a:t>6/1/24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36304E-FDE3-4B4F-A3B7-EBE87F3FA5E2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0851386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97957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5309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1690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13988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078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Residual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6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733334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7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4937574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9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56560780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Stepwise Method:</a:t>
            </a:r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11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37808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2451733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36304E-FDE3-4B4F-A3B7-EBE87F3FA5E2}" type="slidenum">
              <a:rPr lang="en-US" noProof="0" smtClean="0"/>
              <a:t>13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931848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336304E-FDE3-4B4F-A3B7-EBE87F3FA5E2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7122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312605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884962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12140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  <p15:guide id="3" pos="7333" userDrawn="1">
          <p15:clr>
            <a:srgbClr val="FBAE40"/>
          </p15:clr>
        </p15:guide>
        <p15:guide id="4" pos="362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CB5603-8A62-4D45-B6EF-0D7E2D5FC4F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139388" y="1154832"/>
            <a:ext cx="7900525" cy="764460"/>
          </a:xfrm>
        </p:spPr>
        <p:txBody>
          <a:bodyPr>
            <a:noAutofit/>
          </a:bodyPr>
          <a:lstStyle>
            <a:lvl1pPr marL="0" indent="0" algn="ctr">
              <a:buNone/>
              <a:defRPr sz="1800" cap="none" baseline="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Dummy Text Comes Here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B5A30B6B-EEDB-4142-8138-D50F5A307D7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993041" y="2270376"/>
            <a:ext cx="6206400" cy="4587625"/>
          </a:xfrm>
          <a:custGeom>
            <a:avLst/>
            <a:gdLst>
              <a:gd name="connsiteX0" fmla="*/ 3103200 w 6206400"/>
              <a:gd name="connsiteY0" fmla="*/ 0 h 4587625"/>
              <a:gd name="connsiteX1" fmla="*/ 6206400 w 6206400"/>
              <a:gd name="connsiteY1" fmla="*/ 3103200 h 4587625"/>
              <a:gd name="connsiteX2" fmla="*/ 5831861 w 6206400"/>
              <a:gd name="connsiteY2" fmla="*/ 4582370 h 4587625"/>
              <a:gd name="connsiteX3" fmla="*/ 5828668 w 6206400"/>
              <a:gd name="connsiteY3" fmla="*/ 4587625 h 4587625"/>
              <a:gd name="connsiteX4" fmla="*/ 377733 w 6206400"/>
              <a:gd name="connsiteY4" fmla="*/ 4587625 h 4587625"/>
              <a:gd name="connsiteX5" fmla="*/ 374540 w 6206400"/>
              <a:gd name="connsiteY5" fmla="*/ 4582370 h 4587625"/>
              <a:gd name="connsiteX6" fmla="*/ 0 w 6206400"/>
              <a:gd name="connsiteY6" fmla="*/ 3103200 h 4587625"/>
              <a:gd name="connsiteX7" fmla="*/ 3103200 w 6206400"/>
              <a:gd name="connsiteY7" fmla="*/ 0 h 4587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206400" h="4587625">
                <a:moveTo>
                  <a:pt x="3103200" y="0"/>
                </a:moveTo>
                <a:cubicBezTo>
                  <a:pt x="4817050" y="0"/>
                  <a:pt x="6206400" y="1389350"/>
                  <a:pt x="6206400" y="3103200"/>
                </a:cubicBezTo>
                <a:cubicBezTo>
                  <a:pt x="6206400" y="3638778"/>
                  <a:pt x="6070721" y="4142667"/>
                  <a:pt x="5831861" y="4582370"/>
                </a:cubicBezTo>
                <a:lnTo>
                  <a:pt x="5828668" y="4587625"/>
                </a:lnTo>
                <a:lnTo>
                  <a:pt x="377733" y="4587625"/>
                </a:lnTo>
                <a:lnTo>
                  <a:pt x="374540" y="4582370"/>
                </a:lnTo>
                <a:cubicBezTo>
                  <a:pt x="135679" y="4142667"/>
                  <a:pt x="0" y="3638778"/>
                  <a:pt x="0" y="3103200"/>
                </a:cubicBezTo>
                <a:cubicBezTo>
                  <a:pt x="0" y="1389350"/>
                  <a:pt x="1389350" y="0"/>
                  <a:pt x="3103200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504955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42E17FB3-B5C4-4B3A-A57B-C6493A9D0C66}"/>
              </a:ext>
            </a:extLst>
          </p:cNvPr>
          <p:cNvGrpSpPr/>
          <p:nvPr userDrawn="1"/>
        </p:nvGrpSpPr>
        <p:grpSpPr>
          <a:xfrm rot="8650774">
            <a:off x="5037655" y="4336093"/>
            <a:ext cx="1905000" cy="2354263"/>
            <a:chOff x="11114088" y="2241550"/>
            <a:chExt cx="1905000" cy="2354263"/>
          </a:xfrm>
          <a:solidFill>
            <a:schemeClr val="bg2"/>
          </a:solidFill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CA6C454-F761-4265-BB5E-DFD947CC3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6B853B2F-9E1C-4AC4-9344-8610498D5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B7FCC84B-2235-4948-8277-8363DFC691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26619E66-5354-4D60-8529-27917AC037C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884648" y="0"/>
            <a:ext cx="6307353" cy="5780372"/>
          </a:xfrm>
          <a:custGeom>
            <a:avLst/>
            <a:gdLst>
              <a:gd name="connsiteX0" fmla="*/ 760444 w 6307353"/>
              <a:gd name="connsiteY0" fmla="*/ 0 h 5780372"/>
              <a:gd name="connsiteX1" fmla="*/ 6307353 w 6307353"/>
              <a:gd name="connsiteY1" fmla="*/ 0 h 5780372"/>
              <a:gd name="connsiteX2" fmla="*/ 6307353 w 6307353"/>
              <a:gd name="connsiteY2" fmla="*/ 4515612 h 5780372"/>
              <a:gd name="connsiteX3" fmla="*/ 6110746 w 6307353"/>
              <a:gd name="connsiteY3" fmla="*/ 4731934 h 5780372"/>
              <a:gd name="connsiteX4" fmla="*/ 3579592 w 6307353"/>
              <a:gd name="connsiteY4" fmla="*/ 5780372 h 5780372"/>
              <a:gd name="connsiteX5" fmla="*/ 0 w 6307353"/>
              <a:gd name="connsiteY5" fmla="*/ 2200780 h 5780372"/>
              <a:gd name="connsiteX6" fmla="*/ 611338 w 6307353"/>
              <a:gd name="connsiteY6" fmla="*/ 199396 h 5780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307353" h="5780372">
                <a:moveTo>
                  <a:pt x="760444" y="0"/>
                </a:moveTo>
                <a:lnTo>
                  <a:pt x="6307353" y="0"/>
                </a:lnTo>
                <a:lnTo>
                  <a:pt x="6307353" y="4515612"/>
                </a:lnTo>
                <a:lnTo>
                  <a:pt x="6110746" y="4731934"/>
                </a:lnTo>
                <a:cubicBezTo>
                  <a:pt x="5462967" y="5379713"/>
                  <a:pt x="4568069" y="5780372"/>
                  <a:pt x="3579592" y="5780372"/>
                </a:cubicBezTo>
                <a:cubicBezTo>
                  <a:pt x="1602638" y="5780372"/>
                  <a:pt x="0" y="4177734"/>
                  <a:pt x="0" y="2200780"/>
                </a:cubicBezTo>
                <a:cubicBezTo>
                  <a:pt x="0" y="1459422"/>
                  <a:pt x="225371" y="770703"/>
                  <a:pt x="611338" y="199396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2E646B4F-6CCB-724C-9D5E-6D5770023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6962084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4937211" cy="1325563"/>
          </a:xfrm>
        </p:spPr>
        <p:txBody>
          <a:bodyPr lIns="0" tIns="0" rIns="0" bIns="0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38960" y="1825625"/>
            <a:ext cx="4914189" cy="4351338"/>
          </a:xfrm>
        </p:spPr>
        <p:txBody>
          <a:bodyPr lIns="0" tIns="0" rIns="0" bIns="0">
            <a:no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D415693-E2CB-4DB4-B07C-2F96B0CAB302}"/>
              </a:ext>
            </a:extLst>
          </p:cNvPr>
          <p:cNvSpPr/>
          <p:nvPr userDrawn="1"/>
        </p:nvSpPr>
        <p:spPr>
          <a:xfrm>
            <a:off x="7854462" y="988536"/>
            <a:ext cx="4329129" cy="4880927"/>
          </a:xfrm>
          <a:prstGeom prst="rect">
            <a:avLst/>
          </a:prstGeom>
          <a:solidFill>
            <a:schemeClr val="accent1"/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14C1BF67-E354-4E04-8F94-BABF2B7D1AFB}"/>
              </a:ext>
            </a:extLst>
          </p:cNvPr>
          <p:cNvSpPr/>
          <p:nvPr userDrawn="1"/>
        </p:nvSpPr>
        <p:spPr>
          <a:xfrm>
            <a:off x="5107816" y="633613"/>
            <a:ext cx="5571908" cy="5571906"/>
          </a:xfrm>
          <a:prstGeom prst="ellipse">
            <a:avLst/>
          </a:prstGeom>
          <a:solidFill>
            <a:schemeClr val="bg2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Picture Placeholder 5">
            <a:extLst>
              <a:ext uri="{FF2B5EF4-FFF2-40B4-BE49-F238E27FC236}">
                <a16:creationId xmlns:a16="http://schemas.microsoft.com/office/drawing/2014/main" id="{FF6AC390-6F85-4B64-AE7A-E8E0D8FC89C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55212" y="988536"/>
            <a:ext cx="4884848" cy="4884848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96998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>
            <a:extLst>
              <a:ext uri="{FF2B5EF4-FFF2-40B4-BE49-F238E27FC236}">
                <a16:creationId xmlns:a16="http://schemas.microsoft.com/office/drawing/2014/main" id="{12E4E194-63F1-4D43-AC02-75733DF045E9}"/>
              </a:ext>
            </a:extLst>
          </p:cNvPr>
          <p:cNvSpPr/>
          <p:nvPr userDrawn="1"/>
        </p:nvSpPr>
        <p:spPr>
          <a:xfrm>
            <a:off x="8308181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799E3E2-888B-2343-9A63-F84C03265CB5}"/>
              </a:ext>
            </a:extLst>
          </p:cNvPr>
          <p:cNvSpPr>
            <a:spLocks noChangeAspect="1"/>
          </p:cNvSpPr>
          <p:nvPr userDrawn="1"/>
        </p:nvSpPr>
        <p:spPr>
          <a:xfrm>
            <a:off x="9833702" y="1823757"/>
            <a:ext cx="832104" cy="832104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3" name="Picture Placeholder 11">
            <a:extLst>
              <a:ext uri="{FF2B5EF4-FFF2-40B4-BE49-F238E27FC236}">
                <a16:creationId xmlns:a16="http://schemas.microsoft.com/office/drawing/2014/main" id="{8FEDE8EF-5B7A-A741-9A56-D365CAE01B6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998318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5C1FB-E61C-4BBC-8179-D34908DEA1B6}"/>
              </a:ext>
            </a:extLst>
          </p:cNvPr>
          <p:cNvSpPr/>
          <p:nvPr userDrawn="1"/>
        </p:nvSpPr>
        <p:spPr>
          <a:xfrm>
            <a:off x="0" y="1630018"/>
            <a:ext cx="3883819" cy="437321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8C1E0992-271E-4948-9461-C7AA54AF8FEA}"/>
              </a:ext>
            </a:extLst>
          </p:cNvPr>
          <p:cNvSpPr>
            <a:spLocks noChangeAspect="1"/>
          </p:cNvSpPr>
          <p:nvPr userDrawn="1"/>
        </p:nvSpPr>
        <p:spPr>
          <a:xfrm>
            <a:off x="1526011" y="1823757"/>
            <a:ext cx="832104" cy="832104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126" y="3207024"/>
            <a:ext cx="3445566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5B71D50-AA4B-4E0C-8F6A-0F64F2C8A8C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883819" y="1630018"/>
            <a:ext cx="4424362" cy="4373217"/>
          </a:xfr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147C9C38-5B17-467D-B581-EF28ECB11E80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527490" y="3207024"/>
            <a:ext cx="3445200" cy="2504663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219126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F694448B-800C-40EF-8F61-18C018E8374C}"/>
              </a:ext>
            </a:extLst>
          </p:cNvPr>
          <p:cNvSpPr>
            <a:spLocks noGrp="1"/>
          </p:cNvSpPr>
          <p:nvPr>
            <p:ph idx="16" hasCustomPrompt="1"/>
          </p:nvPr>
        </p:nvSpPr>
        <p:spPr>
          <a:xfrm>
            <a:off x="8527124" y="2711636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800" b="1" cap="all" baseline="0"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3B974E-5202-4EAD-9D55-4129C84BAE87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1690627" y="1988373"/>
            <a:ext cx="502873" cy="502873"/>
          </a:xfrm>
          <a:prstGeom prst="rect">
            <a:avLst/>
          </a:prstGeom>
          <a:noFill/>
        </p:spPr>
        <p:txBody>
          <a:bodyPr lIns="0" rIns="0" anchor="ctr">
            <a:no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1741033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B6EB0C6-606C-4AFB-8FF8-AB43606B95BD}"/>
              </a:ext>
            </a:extLst>
          </p:cNvPr>
          <p:cNvSpPr/>
          <p:nvPr userDrawn="1"/>
        </p:nvSpPr>
        <p:spPr>
          <a:xfrm>
            <a:off x="6599236" y="4707908"/>
            <a:ext cx="5592763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5CE6D5A-A5C0-4B12-A26A-691D5743FA5C}"/>
              </a:ext>
            </a:extLst>
          </p:cNvPr>
          <p:cNvSpPr/>
          <p:nvPr userDrawn="1"/>
        </p:nvSpPr>
        <p:spPr>
          <a:xfrm>
            <a:off x="-82063" y="1648186"/>
            <a:ext cx="5709139" cy="100647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970CD0-696D-4313-96BA-4AA72C813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EE9886-36F0-4E06-A3A6-D8F00B0665A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80934" y="2863158"/>
            <a:ext cx="4074002" cy="2846648"/>
          </a:xfrm>
        </p:spPr>
        <p:txBody>
          <a:bodyPr lIns="0" tIns="0" rIns="0" bIns="0">
            <a:noAutofit/>
          </a:bodyPr>
          <a:lstStyle>
            <a:lvl1pPr marL="0" indent="0" algn="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accent2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6C557E-B5A7-4416-BCC0-5743550BF15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FEB88DD7-AEB5-4718-AF2D-28B5B91ED715}"/>
              </a:ext>
            </a:extLst>
          </p:cNvPr>
          <p:cNvSpPr>
            <a:spLocks noGrp="1"/>
          </p:cNvSpPr>
          <p:nvPr>
            <p:ph idx="15" hasCustomPrompt="1"/>
          </p:nvPr>
        </p:nvSpPr>
        <p:spPr>
          <a:xfrm>
            <a:off x="1309370" y="1903728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r">
              <a:buNone/>
              <a:defRPr sz="1800" b="1" cap="all" baseline="0">
                <a:solidFill>
                  <a:schemeClr val="accent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01 comes here</a:t>
            </a: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E5123CE7-2F8A-489B-BD99-0C2A33ADF49A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7327918" y="1648186"/>
            <a:ext cx="4074002" cy="2834508"/>
          </a:xfrm>
        </p:spPr>
        <p:txBody>
          <a:bodyPr lIns="0" tIns="0" rIns="0" bIns="0" anchor="b">
            <a:no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Edit Master text styles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7730BCF-AC2A-4FEC-8F01-63964DB444CF}"/>
              </a:ext>
            </a:extLst>
          </p:cNvPr>
          <p:cNvSpPr>
            <a:spLocks noGrp="1"/>
          </p:cNvSpPr>
          <p:nvPr>
            <p:ph idx="20" hasCustomPrompt="1"/>
          </p:nvPr>
        </p:nvSpPr>
        <p:spPr>
          <a:xfrm>
            <a:off x="7475709" y="4963450"/>
            <a:ext cx="3445566" cy="495389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1800" b="1" cap="all" baseline="0">
                <a:solidFill>
                  <a:schemeClr val="accent3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Topic 02 comes here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19C8692-230B-D543-A7F7-4FD61B04D1C6}"/>
              </a:ext>
            </a:extLst>
          </p:cNvPr>
          <p:cNvSpPr>
            <a:spLocks noChangeAspect="1"/>
          </p:cNvSpPr>
          <p:nvPr userDrawn="1"/>
        </p:nvSpPr>
        <p:spPr>
          <a:xfrm>
            <a:off x="5084763" y="1652762"/>
            <a:ext cx="1001899" cy="1001899"/>
          </a:xfrm>
          <a:prstGeom prst="ellipse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Picture Placeholder 11">
            <a:extLst>
              <a:ext uri="{FF2B5EF4-FFF2-40B4-BE49-F238E27FC236}">
                <a16:creationId xmlns:a16="http://schemas.microsoft.com/office/drawing/2014/main" id="{E150BFC7-A11D-CC46-B5A2-8BD93C269506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5282969" y="1850968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95B55F4-B501-3440-8904-A1C7F049CBE8}"/>
              </a:ext>
            </a:extLst>
          </p:cNvPr>
          <p:cNvSpPr>
            <a:spLocks noChangeAspect="1"/>
          </p:cNvSpPr>
          <p:nvPr userDrawn="1"/>
        </p:nvSpPr>
        <p:spPr>
          <a:xfrm>
            <a:off x="6100576" y="4707907"/>
            <a:ext cx="1001899" cy="1001899"/>
          </a:xfrm>
          <a:prstGeom prst="ellipse">
            <a:avLst/>
          </a:prstGeom>
          <a:solidFill>
            <a:schemeClr val="accent3"/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9" name="Picture Placeholder 11">
            <a:extLst>
              <a:ext uri="{FF2B5EF4-FFF2-40B4-BE49-F238E27FC236}">
                <a16:creationId xmlns:a16="http://schemas.microsoft.com/office/drawing/2014/main" id="{F2116994-BE3E-6A43-9C15-E71BA8EC821F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298782" y="4906113"/>
            <a:ext cx="605487" cy="605487"/>
          </a:xfrm>
          <a:prstGeom prst="rect">
            <a:avLst/>
          </a:prstGeom>
          <a:noFill/>
        </p:spPr>
        <p:txBody>
          <a:bodyPr lIns="0" rIns="0" anchor="ctr">
            <a:normAutofit/>
          </a:bodyPr>
          <a:lstStyle>
            <a:lvl1pPr marL="0" indent="0" algn="ctr">
              <a:buNone/>
              <a:defRPr sz="11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icon</a:t>
            </a:r>
          </a:p>
        </p:txBody>
      </p:sp>
    </p:spTree>
    <p:extLst>
      <p:ext uri="{BB962C8B-B14F-4D97-AF65-F5344CB8AC3E}">
        <p14:creationId xmlns:p14="http://schemas.microsoft.com/office/powerpoint/2010/main" val="891400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04B31150-A166-4DB3-A898-2154C9665891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C1A95BC-42CA-4166-918D-DF4306881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4B4D5F91-2158-4A30-B83C-5CC9CC6E5D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C509E5D6-79CC-4E1D-AAF4-C6F28F3C17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564760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431CD316-21C7-4FA9-A45A-374D6AE71ED5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36" name="Freeform 5">
              <a:extLst>
                <a:ext uri="{FF2B5EF4-FFF2-40B4-BE49-F238E27FC236}">
                  <a16:creationId xmlns:a16="http://schemas.microsoft.com/office/drawing/2014/main" id="{E107D9FB-3967-4583-A9DA-6787AF712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7" name="Freeform 6">
              <a:extLst>
                <a:ext uri="{FF2B5EF4-FFF2-40B4-BE49-F238E27FC236}">
                  <a16:creationId xmlns:a16="http://schemas.microsoft.com/office/drawing/2014/main" id="{138D5FEB-37FF-4F26-B625-CE2BE91FF2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38" name="Freeform 7">
              <a:extLst>
                <a:ext uri="{FF2B5EF4-FFF2-40B4-BE49-F238E27FC236}">
                  <a16:creationId xmlns:a16="http://schemas.microsoft.com/office/drawing/2014/main" id="{6C2B67E8-673C-422C-B021-296E2E2B95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23" name="Oval 22">
            <a:extLst>
              <a:ext uri="{FF2B5EF4-FFF2-40B4-BE49-F238E27FC236}">
                <a16:creationId xmlns:a16="http://schemas.microsoft.com/office/drawing/2014/main" id="{687010E4-ADF2-486D-8DF7-B0FF38C6DADF}"/>
              </a:ext>
            </a:extLst>
          </p:cNvPr>
          <p:cNvSpPr/>
          <p:nvPr userDrawn="1"/>
        </p:nvSpPr>
        <p:spPr>
          <a:xfrm>
            <a:off x="954140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159AA79-2237-4A27-BBC2-D44032158D19}"/>
              </a:ext>
            </a:extLst>
          </p:cNvPr>
          <p:cNvSpPr/>
          <p:nvPr userDrawn="1"/>
        </p:nvSpPr>
        <p:spPr>
          <a:xfrm>
            <a:off x="3807539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272B962-9566-42D2-B4C3-E7AA81884A83}"/>
              </a:ext>
            </a:extLst>
          </p:cNvPr>
          <p:cNvSpPr/>
          <p:nvPr userDrawn="1"/>
        </p:nvSpPr>
        <p:spPr>
          <a:xfrm>
            <a:off x="6646275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9733285-016C-4C38-816C-83D30C075C70}"/>
              </a:ext>
            </a:extLst>
          </p:cNvPr>
          <p:cNvSpPr/>
          <p:nvPr userDrawn="1"/>
        </p:nvSpPr>
        <p:spPr>
          <a:xfrm>
            <a:off x="9498658" y="1698469"/>
            <a:ext cx="1729332" cy="1729332"/>
          </a:xfrm>
          <a:prstGeom prst="ellipse">
            <a:avLst/>
          </a:prstGeom>
          <a:solidFill>
            <a:schemeClr val="tx1">
              <a:alpha val="1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F40DBA4-AB63-4B47-B37F-BCC3D59B5392}"/>
              </a:ext>
            </a:extLst>
          </p:cNvPr>
          <p:cNvSpPr/>
          <p:nvPr userDrawn="1"/>
        </p:nvSpPr>
        <p:spPr>
          <a:xfrm>
            <a:off x="4011967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33EF0AFB-D099-4FF1-8963-7DA87268867F}"/>
              </a:ext>
            </a:extLst>
          </p:cNvPr>
          <p:cNvSpPr/>
          <p:nvPr userDrawn="1"/>
        </p:nvSpPr>
        <p:spPr>
          <a:xfrm>
            <a:off x="6850703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872C96E-9AF3-4FA0-8180-C213C7F2209E}"/>
              </a:ext>
            </a:extLst>
          </p:cNvPr>
          <p:cNvSpPr/>
          <p:nvPr userDrawn="1"/>
        </p:nvSpPr>
        <p:spPr>
          <a:xfrm>
            <a:off x="9703086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A08BE29-CFA5-4E0D-9DBE-A430AE1B8072}"/>
              </a:ext>
            </a:extLst>
          </p:cNvPr>
          <p:cNvSpPr/>
          <p:nvPr userDrawn="1"/>
        </p:nvSpPr>
        <p:spPr>
          <a:xfrm>
            <a:off x="1158568" y="1778212"/>
            <a:ext cx="1320476" cy="362088"/>
          </a:xfrm>
          <a:custGeom>
            <a:avLst/>
            <a:gdLst>
              <a:gd name="connsiteX0" fmla="*/ 660238 w 1320476"/>
              <a:gd name="connsiteY0" fmla="*/ 0 h 362088"/>
              <a:gd name="connsiteX1" fmla="*/ 1312051 w 1320476"/>
              <a:gd name="connsiteY1" fmla="*/ 346566 h 362088"/>
              <a:gd name="connsiteX2" fmla="*/ 1320476 w 1320476"/>
              <a:gd name="connsiteY2" fmla="*/ 362088 h 362088"/>
              <a:gd name="connsiteX3" fmla="*/ 0 w 1320476"/>
              <a:gd name="connsiteY3" fmla="*/ 362088 h 362088"/>
              <a:gd name="connsiteX4" fmla="*/ 8425 w 1320476"/>
              <a:gd name="connsiteY4" fmla="*/ 346566 h 362088"/>
              <a:gd name="connsiteX5" fmla="*/ 660238 w 1320476"/>
              <a:gd name="connsiteY5" fmla="*/ 0 h 3620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320476" h="362088">
                <a:moveTo>
                  <a:pt x="660238" y="0"/>
                </a:moveTo>
                <a:cubicBezTo>
                  <a:pt x="931569" y="0"/>
                  <a:pt x="1170791" y="137473"/>
                  <a:pt x="1312051" y="346566"/>
                </a:cubicBezTo>
                <a:lnTo>
                  <a:pt x="1320476" y="362088"/>
                </a:lnTo>
                <a:lnTo>
                  <a:pt x="0" y="362088"/>
                </a:lnTo>
                <a:lnTo>
                  <a:pt x="8425" y="346566"/>
                </a:lnTo>
                <a:cubicBezTo>
                  <a:pt x="149685" y="137473"/>
                  <a:pt x="388907" y="0"/>
                  <a:pt x="66023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B70E2287-0F7B-4DD3-A805-DB19BBF3C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DCE74CE-BEFF-42B3-BF3E-C41B1B1F1EE4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B0944B4-FE4A-459A-85B1-3476FE6C4C4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1B26B4BC-3D52-4C1C-85FB-226F0B5201F1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CEC6B25A-6AA2-46A7-84BE-5C907CA51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1B995BE-66C2-4379-885F-4BE069DA39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103638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9B56B6C6-9F3C-4E80-BBAD-280E697B895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57037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54704160-1ED7-4B90-8963-0F887C73E94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795773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6610597-6A76-4A06-82A5-A8FFC5BAE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648156" y="1848535"/>
            <a:ext cx="1430337" cy="1430337"/>
          </a:xfrm>
          <a:prstGeom prst="ellipse">
            <a:avLst/>
          </a:prstGeom>
          <a:solidFill>
            <a:schemeClr val="bg2"/>
          </a:solidFill>
        </p:spPr>
        <p:txBody>
          <a:bodyPr anchor="ctr"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FF56D2E5-86E4-473A-A62F-B7029E5B2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54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93934E34-6CC7-492D-9515-EBEC72EFF4CB}"/>
              </a:ext>
            </a:extLst>
          </p:cNvPr>
          <p:cNvSpPr>
            <a:spLocks noGrp="1"/>
          </p:cNvSpPr>
          <p:nvPr>
            <p:ph idx="17" hasCustomPrompt="1"/>
          </p:nvPr>
        </p:nvSpPr>
        <p:spPr>
          <a:xfrm>
            <a:off x="524454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E4E27467-A1AA-4773-AAB5-A96267FBD712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77853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0" name="Content Placeholder 2">
            <a:extLst>
              <a:ext uri="{FF2B5EF4-FFF2-40B4-BE49-F238E27FC236}">
                <a16:creationId xmlns:a16="http://schemas.microsoft.com/office/drawing/2014/main" id="{6CABD5EB-4A8B-448B-8ED1-B8B420815B2D}"/>
              </a:ext>
            </a:extLst>
          </p:cNvPr>
          <p:cNvSpPr>
            <a:spLocks noGrp="1"/>
          </p:cNvSpPr>
          <p:nvPr>
            <p:ph idx="19" hasCustomPrompt="1"/>
          </p:nvPr>
        </p:nvSpPr>
        <p:spPr>
          <a:xfrm>
            <a:off x="3377853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1" name="Content Placeholder 2">
            <a:extLst>
              <a:ext uri="{FF2B5EF4-FFF2-40B4-BE49-F238E27FC236}">
                <a16:creationId xmlns:a16="http://schemas.microsoft.com/office/drawing/2014/main" id="{0D86883C-E501-47FF-AE1A-E9CE8B71B421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6216589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3683A037-F698-4CC9-904D-F377D71F690F}"/>
              </a:ext>
            </a:extLst>
          </p:cNvPr>
          <p:cNvSpPr>
            <a:spLocks noGrp="1"/>
          </p:cNvSpPr>
          <p:nvPr>
            <p:ph idx="21" hasCustomPrompt="1"/>
          </p:nvPr>
        </p:nvSpPr>
        <p:spPr>
          <a:xfrm>
            <a:off x="6216589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0A095594-2B82-44ED-8C9B-DA7C4D3D2872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9068972" y="4052306"/>
            <a:ext cx="2588705" cy="1749005"/>
          </a:xfrm>
        </p:spPr>
        <p:txBody>
          <a:bodyPr lIns="0" tIns="0" rIns="0" bIns="0">
            <a:noAutofit/>
          </a:bodyPr>
          <a:lstStyle>
            <a:lvl1pPr marL="0" indent="0" algn="ctr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34" name="Content Placeholder 2">
            <a:extLst>
              <a:ext uri="{FF2B5EF4-FFF2-40B4-BE49-F238E27FC236}">
                <a16:creationId xmlns:a16="http://schemas.microsoft.com/office/drawing/2014/main" id="{54CDD46A-22ED-48F5-9B5F-13B1B5C4B320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9068972" y="3539268"/>
            <a:ext cx="2588705" cy="495389"/>
          </a:xfrm>
        </p:spPr>
        <p:txBody>
          <a:bodyPr lIns="0" tIns="0" rIns="0" bIns="0" anchor="ctr">
            <a:noAutofit/>
          </a:bodyPr>
          <a:lstStyle>
            <a:lvl1pPr marL="0" indent="0" algn="ctr">
              <a:buNone/>
              <a:defRPr sz="1600" b="1" cap="all" baseline="0">
                <a:solidFill>
                  <a:srgbClr val="0D1D5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</a:lstStyle>
          <a:p>
            <a:pPr lvl="0"/>
            <a:r>
              <a:rPr lang="en-US" noProof="0" dirty="0"/>
              <a:t>Executive 01</a:t>
            </a:r>
          </a:p>
        </p:txBody>
      </p:sp>
    </p:spTree>
    <p:extLst>
      <p:ext uri="{BB962C8B-B14F-4D97-AF65-F5344CB8AC3E}">
        <p14:creationId xmlns:p14="http://schemas.microsoft.com/office/powerpoint/2010/main" val="38765038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72999" y="1844881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E0FBE0E-A6B0-483E-93DD-5C20DA069DB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/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pic>
        <p:nvPicPr>
          <p:cNvPr id="17" name="Graphic 16" descr="Envelope">
            <a:extLst>
              <a:ext uri="{FF2B5EF4-FFF2-40B4-BE49-F238E27FC236}">
                <a16:creationId xmlns:a16="http://schemas.microsoft.com/office/drawing/2014/main" id="{E5B30B87-6C2E-48F1-9026-E4F6BEA1CFE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18" name="Graphic 17" descr="Network">
            <a:extLst>
              <a:ext uri="{FF2B5EF4-FFF2-40B4-BE49-F238E27FC236}">
                <a16:creationId xmlns:a16="http://schemas.microsoft.com/office/drawing/2014/main" id="{2DA3CFE0-4ED8-4345-A158-94E70F463E9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CE9908F-CF81-43F9-880A-401D0C0FB2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429000"/>
            <a:ext cx="5011410" cy="651448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>
                <a:solidFill>
                  <a:schemeClr val="accent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6371368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BCCC559D-0EC3-432C-B397-6897B366DF3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10812" y="728545"/>
            <a:ext cx="5305661" cy="5305661"/>
          </a:xfrm>
          <a:prstGeom prst="ellipse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7C312F4-62C2-4903-8C4B-423A8717E481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Graphic 18" descr="Envelope">
            <a:extLst>
              <a:ext uri="{FF2B5EF4-FFF2-40B4-BE49-F238E27FC236}">
                <a16:creationId xmlns:a16="http://schemas.microsoft.com/office/drawing/2014/main" id="{A686352B-226C-4579-B831-0DC14EC3895E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41475" y="4452337"/>
            <a:ext cx="387795" cy="387795"/>
          </a:xfrm>
          <a:prstGeom prst="rect">
            <a:avLst/>
          </a:prstGeom>
        </p:spPr>
      </p:pic>
      <p:pic>
        <p:nvPicPr>
          <p:cNvPr id="20" name="Graphic 19" descr="Network">
            <a:extLst>
              <a:ext uri="{FF2B5EF4-FFF2-40B4-BE49-F238E27FC236}">
                <a16:creationId xmlns:a16="http://schemas.microsoft.com/office/drawing/2014/main" id="{460C8169-012B-451A-A6C2-6FEC0DC82AF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2084" y="4925640"/>
            <a:ext cx="426575" cy="426575"/>
          </a:xfrm>
          <a:prstGeom prst="rect">
            <a:avLst/>
          </a:prstGeom>
        </p:spPr>
      </p:pic>
      <p:sp>
        <p:nvSpPr>
          <p:cNvPr id="21" name="Subtitle 2">
            <a:extLst>
              <a:ext uri="{FF2B5EF4-FFF2-40B4-BE49-F238E27FC236}">
                <a16:creationId xmlns:a16="http://schemas.microsoft.com/office/drawing/2014/main" id="{ADF17BC1-06CE-42EA-A970-31A7ED871AA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002130" y="4484691"/>
            <a:ext cx="4540440" cy="503167"/>
          </a:xfrm>
        </p:spPr>
        <p:txBody>
          <a:bodyPr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dirty="0"/>
              <a:t>email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7035F1B3-4E91-44FF-B4E7-E5D87C7A034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002320" y="5012635"/>
            <a:ext cx="4533900" cy="503238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1600" b="0" cap="all" baseline="0" dirty="0" smtClean="0">
                <a:solidFill>
                  <a:schemeClr val="bg1"/>
                </a:solidFill>
              </a:defRPr>
            </a:lvl1pPr>
          </a:lstStyle>
          <a:p>
            <a:pPr marL="228600" lvl="0" indent="-228600"/>
            <a:r>
              <a:rPr lang="en-US" noProof="0" dirty="0"/>
              <a:t>Website </a:t>
            </a:r>
            <a:r>
              <a:rPr lang="en-US" noProof="0" dirty="0" err="1"/>
              <a:t>url</a:t>
            </a:r>
            <a:r>
              <a:rPr lang="en-US" noProof="0" dirty="0"/>
              <a:t> here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25B5135-F466-4A63-A42C-3BB2BAA7D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9778" y="3158641"/>
            <a:ext cx="5011410" cy="921807"/>
          </a:xfrm>
          <a:noFill/>
        </p:spPr>
        <p:txBody>
          <a:bodyPr wrap="square" rtlCol="0">
            <a:noAutofit/>
          </a:bodyPr>
          <a:lstStyle>
            <a:lvl1pPr>
              <a:defRPr lang="en-US" sz="6000" b="1" cap="all" baseline="0" dirty="0">
                <a:solidFill>
                  <a:schemeClr val="bg1"/>
                </a:solidFill>
                <a:ea typeface="+mn-ea"/>
                <a:cs typeface="+mn-cs"/>
              </a:defRPr>
            </a:lvl1pPr>
          </a:lstStyle>
          <a:p>
            <a:pPr marL="0" lvl="0"/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8101070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6299464-ED20-4919-8B3A-2CFAE8DA234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F54E98B-AC75-484D-9121-68498EB888AA}"/>
              </a:ext>
            </a:extLst>
          </p:cNvPr>
          <p:cNvSpPr/>
          <p:nvPr userDrawn="1"/>
        </p:nvSpPr>
        <p:spPr>
          <a:xfrm>
            <a:off x="754010" y="708293"/>
            <a:ext cx="5334029" cy="5334029"/>
          </a:xfrm>
          <a:prstGeom prst="ellipse">
            <a:avLst/>
          </a:prstGeom>
          <a:solidFill>
            <a:schemeClr val="bg1">
              <a:alpha val="1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56FD49-C258-4333-9422-358C976A341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343650" y="2173288"/>
            <a:ext cx="5143500" cy="2090808"/>
          </a:xfrm>
        </p:spPr>
        <p:txBody>
          <a:bodyPr anchor="b">
            <a:noAutofit/>
          </a:bodyPr>
          <a:lstStyle>
            <a:lvl1pPr algn="l">
              <a:defRPr sz="5400" b="1" cap="all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noProof="0" dirty="0"/>
              <a:t>Title comes here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9758E15-A93D-4FB9-843D-1490E27A15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43650" y="4279971"/>
            <a:ext cx="5143500" cy="503167"/>
          </a:xfrm>
        </p:spPr>
        <p:txBody>
          <a:bodyPr>
            <a:noAutofit/>
          </a:bodyPr>
          <a:lstStyle>
            <a:lvl1pPr marL="0" indent="0" algn="l">
              <a:buNone/>
              <a:defRPr sz="1800" b="0" cap="all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Click to edit Master subtitle style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>
            <a:off x="-1728305" y="-2049517"/>
            <a:ext cx="8917229" cy="10769768"/>
            <a:chOff x="11114088" y="2241550"/>
            <a:chExt cx="1905000" cy="2354263"/>
          </a:xfrm>
          <a:solidFill>
            <a:schemeClr val="bg1">
              <a:alpha val="16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pic>
        <p:nvPicPr>
          <p:cNvPr id="9" name="Picture 8">
            <a:extLst>
              <a:ext uri="{FF2B5EF4-FFF2-40B4-BE49-F238E27FC236}">
                <a16:creationId xmlns:a16="http://schemas.microsoft.com/office/drawing/2014/main" id="{4FE28ACC-E44C-4381-B768-0310810E78D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15850" y="391862"/>
            <a:ext cx="1745251" cy="673365"/>
          </a:xfrm>
          <a:prstGeom prst="rect">
            <a:avLst/>
          </a:prstGeom>
        </p:spPr>
      </p:pic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19AFA09-F4B1-493D-BCAD-FF30C20CD1AA}"/>
              </a:ext>
            </a:extLst>
          </p:cNvPr>
          <p:cNvCxnSpPr/>
          <p:nvPr userDrawn="1"/>
        </p:nvCxnSpPr>
        <p:spPr>
          <a:xfrm>
            <a:off x="6469778" y="4233582"/>
            <a:ext cx="253233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90578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333">
          <p15:clr>
            <a:srgbClr val="FBAE40"/>
          </p15:clr>
        </p15:guide>
        <p15:guide id="4" pos="36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9087E09-D75F-4E26-B01E-A1A09BA2EA7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7A70B7-7ADE-4E0B-B956-363B0B1AA6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82563"/>
            <a:ext cx="10515600" cy="940181"/>
          </a:xfrm>
        </p:spPr>
        <p:txBody>
          <a:bodyPr anchor="b">
            <a:noAutofit/>
          </a:bodyPr>
          <a:lstStyle>
            <a:lvl1pPr algn="ctr">
              <a:defRPr sz="4000" b="1" cap="all" baseline="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FC40B0-ED27-47E5-A3C2-32A841856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638" y="6260507"/>
            <a:ext cx="1075427" cy="41492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8931D2A9-0B92-4197-8802-80424C14EA7E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3B74B0-30B9-45C2-9AE6-45D1978AA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rgbClr val="2C567A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AD5251EA-F450-4DD1-995B-DC89513424C8}"/>
              </a:ext>
            </a:extLst>
          </p:cNvPr>
          <p:cNvGrpSpPr/>
          <p:nvPr userDrawn="1"/>
        </p:nvGrpSpPr>
        <p:grpSpPr>
          <a:xfrm rot="16200000">
            <a:off x="1637386" y="1473117"/>
            <a:ext cx="8917229" cy="10769768"/>
            <a:chOff x="-1728305" y="-2049517"/>
            <a:chExt cx="8917229" cy="10769768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44882F4E-E8C8-46FE-A9C8-7B79782767F6}"/>
                </a:ext>
              </a:extLst>
            </p:cNvPr>
            <p:cNvSpPr/>
            <p:nvPr userDrawn="1"/>
          </p:nvSpPr>
          <p:spPr>
            <a:xfrm>
              <a:off x="754010" y="708293"/>
              <a:ext cx="5334029" cy="5334029"/>
            </a:xfrm>
            <a:prstGeom prst="ellipse">
              <a:avLst/>
            </a:prstGeom>
            <a:solidFill>
              <a:schemeClr val="bg1">
                <a:alpha val="16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noProof="0" dirty="0"/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65CD13B-04FB-40D5-AF62-2F43CF49BA9B}"/>
                </a:ext>
              </a:extLst>
            </p:cNvPr>
            <p:cNvGrpSpPr/>
            <p:nvPr userDrawn="1"/>
          </p:nvGrpSpPr>
          <p:grpSpPr>
            <a:xfrm>
              <a:off x="-1728305" y="-2049517"/>
              <a:ext cx="8917229" cy="10769768"/>
              <a:chOff x="11114088" y="2241550"/>
              <a:chExt cx="1905000" cy="2354263"/>
            </a:xfrm>
            <a:solidFill>
              <a:schemeClr val="bg1">
                <a:alpha val="16000"/>
              </a:schemeClr>
            </a:solidFill>
          </p:grpSpPr>
          <p:sp>
            <p:nvSpPr>
              <p:cNvPr id="19" name="Freeform 5">
                <a:extLst>
                  <a:ext uri="{FF2B5EF4-FFF2-40B4-BE49-F238E27FC236}">
                    <a16:creationId xmlns:a16="http://schemas.microsoft.com/office/drawing/2014/main" id="{01876F8F-C11E-4FB2-8150-1F0602752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114088" y="2241550"/>
                <a:ext cx="1905000" cy="2354263"/>
              </a:xfrm>
              <a:custGeom>
                <a:avLst/>
                <a:gdLst>
                  <a:gd name="T0" fmla="*/ 0 w 447"/>
                  <a:gd name="T1" fmla="*/ 264 h 553"/>
                  <a:gd name="T2" fmla="*/ 141 w 447"/>
                  <a:gd name="T3" fmla="*/ 48 h 553"/>
                  <a:gd name="T4" fmla="*/ 414 w 447"/>
                  <a:gd name="T5" fmla="*/ 67 h 553"/>
                  <a:gd name="T6" fmla="*/ 438 w 447"/>
                  <a:gd name="T7" fmla="*/ 98 h 553"/>
                  <a:gd name="T8" fmla="*/ 391 w 447"/>
                  <a:gd name="T9" fmla="*/ 111 h 553"/>
                  <a:gd name="T10" fmla="*/ 94 w 447"/>
                  <a:gd name="T11" fmla="*/ 149 h 553"/>
                  <a:gd name="T12" fmla="*/ 107 w 447"/>
                  <a:gd name="T13" fmla="*/ 424 h 553"/>
                  <a:gd name="T14" fmla="*/ 383 w 447"/>
                  <a:gd name="T15" fmla="*/ 453 h 553"/>
                  <a:gd name="T16" fmla="*/ 393 w 447"/>
                  <a:gd name="T17" fmla="*/ 446 h 553"/>
                  <a:gd name="T18" fmla="*/ 433 w 447"/>
                  <a:gd name="T19" fmla="*/ 449 h 553"/>
                  <a:gd name="T20" fmla="*/ 421 w 447"/>
                  <a:gd name="T21" fmla="*/ 485 h 553"/>
                  <a:gd name="T22" fmla="*/ 194 w 447"/>
                  <a:gd name="T23" fmla="*/ 531 h 553"/>
                  <a:gd name="T24" fmla="*/ 0 w 447"/>
                  <a:gd name="T25" fmla="*/ 264 h 55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47" h="553">
                    <a:moveTo>
                      <a:pt x="0" y="264"/>
                    </a:moveTo>
                    <a:cubicBezTo>
                      <a:pt x="5" y="176"/>
                      <a:pt x="49" y="96"/>
                      <a:pt x="141" y="48"/>
                    </a:cubicBezTo>
                    <a:cubicBezTo>
                      <a:pt x="235" y="0"/>
                      <a:pt x="327" y="9"/>
                      <a:pt x="414" y="67"/>
                    </a:cubicBezTo>
                    <a:cubicBezTo>
                      <a:pt x="425" y="75"/>
                      <a:pt x="439" y="82"/>
                      <a:pt x="438" y="98"/>
                    </a:cubicBezTo>
                    <a:cubicBezTo>
                      <a:pt x="437" y="120"/>
                      <a:pt x="413" y="127"/>
                      <a:pt x="391" y="111"/>
                    </a:cubicBezTo>
                    <a:cubicBezTo>
                      <a:pt x="294" y="40"/>
                      <a:pt x="166" y="56"/>
                      <a:pt x="94" y="149"/>
                    </a:cubicBezTo>
                    <a:cubicBezTo>
                      <a:pt x="30" y="231"/>
                      <a:pt x="36" y="349"/>
                      <a:pt x="107" y="424"/>
                    </a:cubicBezTo>
                    <a:cubicBezTo>
                      <a:pt x="180" y="502"/>
                      <a:pt x="296" y="514"/>
                      <a:pt x="383" y="453"/>
                    </a:cubicBezTo>
                    <a:cubicBezTo>
                      <a:pt x="386" y="451"/>
                      <a:pt x="390" y="449"/>
                      <a:pt x="393" y="446"/>
                    </a:cubicBezTo>
                    <a:cubicBezTo>
                      <a:pt x="407" y="433"/>
                      <a:pt x="420" y="433"/>
                      <a:pt x="433" y="449"/>
                    </a:cubicBezTo>
                    <a:cubicBezTo>
                      <a:pt x="447" y="467"/>
                      <a:pt x="433" y="477"/>
                      <a:pt x="421" y="485"/>
                    </a:cubicBezTo>
                    <a:cubicBezTo>
                      <a:pt x="353" y="537"/>
                      <a:pt x="277" y="553"/>
                      <a:pt x="194" y="531"/>
                    </a:cubicBezTo>
                    <a:cubicBezTo>
                      <a:pt x="79" y="501"/>
                      <a:pt x="1" y="397"/>
                      <a:pt x="0" y="26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 dirty="0"/>
              </a:p>
            </p:txBody>
          </p:sp>
          <p:sp>
            <p:nvSpPr>
              <p:cNvPr id="20" name="Freeform 6">
                <a:extLst>
                  <a:ext uri="{FF2B5EF4-FFF2-40B4-BE49-F238E27FC236}">
                    <a16:creationId xmlns:a16="http://schemas.microsoft.com/office/drawing/2014/main" id="{08A1D05F-5F61-4156-8C83-1A002AA1E8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1412538" y="2590800"/>
                <a:ext cx="835025" cy="1673225"/>
              </a:xfrm>
              <a:custGeom>
                <a:avLst/>
                <a:gdLst>
                  <a:gd name="T0" fmla="*/ 0 w 196"/>
                  <a:gd name="T1" fmla="*/ 198 h 393"/>
                  <a:gd name="T2" fmla="*/ 157 w 196"/>
                  <a:gd name="T3" fmla="*/ 8 h 393"/>
                  <a:gd name="T4" fmla="*/ 192 w 196"/>
                  <a:gd name="T5" fmla="*/ 22 h 393"/>
                  <a:gd name="T6" fmla="*/ 167 w 196"/>
                  <a:gd name="T7" fmla="*/ 56 h 393"/>
                  <a:gd name="T8" fmla="*/ 48 w 196"/>
                  <a:gd name="T9" fmla="*/ 198 h 393"/>
                  <a:gd name="T10" fmla="*/ 170 w 196"/>
                  <a:gd name="T11" fmla="*/ 339 h 393"/>
                  <a:gd name="T12" fmla="*/ 193 w 196"/>
                  <a:gd name="T13" fmla="*/ 372 h 393"/>
                  <a:gd name="T14" fmla="*/ 160 w 196"/>
                  <a:gd name="T15" fmla="*/ 387 h 393"/>
                  <a:gd name="T16" fmla="*/ 0 w 196"/>
                  <a:gd name="T17" fmla="*/ 198 h 3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96" h="393">
                    <a:moveTo>
                      <a:pt x="0" y="198"/>
                    </a:moveTo>
                    <a:cubicBezTo>
                      <a:pt x="0" y="103"/>
                      <a:pt x="64" y="26"/>
                      <a:pt x="157" y="8"/>
                    </a:cubicBezTo>
                    <a:cubicBezTo>
                      <a:pt x="171" y="6"/>
                      <a:pt x="188" y="0"/>
                      <a:pt x="192" y="22"/>
                    </a:cubicBezTo>
                    <a:cubicBezTo>
                      <a:pt x="196" y="41"/>
                      <a:pt x="190" y="52"/>
                      <a:pt x="167" y="56"/>
                    </a:cubicBezTo>
                    <a:cubicBezTo>
                      <a:pt x="95" y="70"/>
                      <a:pt x="47" y="129"/>
                      <a:pt x="48" y="198"/>
                    </a:cubicBezTo>
                    <a:cubicBezTo>
                      <a:pt x="48" y="267"/>
                      <a:pt x="97" y="325"/>
                      <a:pt x="170" y="339"/>
                    </a:cubicBezTo>
                    <a:cubicBezTo>
                      <a:pt x="191" y="343"/>
                      <a:pt x="195" y="354"/>
                      <a:pt x="193" y="372"/>
                    </a:cubicBezTo>
                    <a:cubicBezTo>
                      <a:pt x="190" y="393"/>
                      <a:pt x="174" y="389"/>
                      <a:pt x="160" y="387"/>
                    </a:cubicBezTo>
                    <a:cubicBezTo>
                      <a:pt x="70" y="375"/>
                      <a:pt x="0" y="293"/>
                      <a:pt x="0" y="198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US" noProof="0" dirty="0"/>
              </a:p>
            </p:txBody>
          </p:sp>
        </p:grpSp>
      </p:grp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4D77C47B-CC1E-41DA-9146-5DFD630654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1153348"/>
            <a:ext cx="10515600" cy="648543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265441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Group 21">
            <a:extLst>
              <a:ext uri="{FF2B5EF4-FFF2-40B4-BE49-F238E27FC236}">
                <a16:creationId xmlns:a16="http://schemas.microsoft.com/office/drawing/2014/main" id="{60E0B501-22AA-4685-BE9B-A267F6F675A7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4" name="Freeform 5">
              <a:extLst>
                <a:ext uri="{FF2B5EF4-FFF2-40B4-BE49-F238E27FC236}">
                  <a16:creationId xmlns:a16="http://schemas.microsoft.com/office/drawing/2014/main" id="{5D0E179E-CA3D-4874-9ACD-F8990F48F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A9C53936-B93A-4CF6-8766-2FA93ACFEB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6" name="Freeform 7">
              <a:extLst>
                <a:ext uri="{FF2B5EF4-FFF2-40B4-BE49-F238E27FC236}">
                  <a16:creationId xmlns:a16="http://schemas.microsoft.com/office/drawing/2014/main" id="{5776DEA2-5422-4F51-B359-652B71274D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1A1F33A2-66F7-4D85-99DD-7B00F265AC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825625"/>
            <a:ext cx="10837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C2DFD46-BF74-47BA-A496-92ED1979C3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EF788279-D710-447A-9E71-4D13445756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78975897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C2A6B906-ACDA-40FD-8AC8-0B693AB1279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19" name="Freeform 5">
              <a:extLst>
                <a:ext uri="{FF2B5EF4-FFF2-40B4-BE49-F238E27FC236}">
                  <a16:creationId xmlns:a16="http://schemas.microsoft.com/office/drawing/2014/main" id="{717F7366-5A99-4065-90C2-AE7DF5DD0F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0" name="Freeform 6">
              <a:extLst>
                <a:ext uri="{FF2B5EF4-FFF2-40B4-BE49-F238E27FC236}">
                  <a16:creationId xmlns:a16="http://schemas.microsoft.com/office/drawing/2014/main" id="{90A089CA-63B9-4456-B0B1-17C75EBFB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8D36B2D1-BCFE-43FC-8743-7B7A30E1AD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079DA8F4-EDD3-4D62-A90B-8C3C1AFB0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5938" y="1825625"/>
            <a:ext cx="5503862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A0DA994-B4A9-447A-BEBF-3EA31D375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32150F9-14BF-4DCB-884D-49596914C2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19DEF115-82C2-4E9D-A22C-8DA561FB37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9293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>
            <a:extLst>
              <a:ext uri="{FF2B5EF4-FFF2-40B4-BE49-F238E27FC236}">
                <a16:creationId xmlns:a16="http://schemas.microsoft.com/office/drawing/2014/main" id="{616F52B4-215E-4237-893C-E22B23804744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2" name="Freeform 5">
              <a:extLst>
                <a:ext uri="{FF2B5EF4-FFF2-40B4-BE49-F238E27FC236}">
                  <a16:creationId xmlns:a16="http://schemas.microsoft.com/office/drawing/2014/main" id="{B7C40C77-B795-4B07-B92D-2E8A566357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6">
              <a:extLst>
                <a:ext uri="{FF2B5EF4-FFF2-40B4-BE49-F238E27FC236}">
                  <a16:creationId xmlns:a16="http://schemas.microsoft.com/office/drawing/2014/main" id="{6E703A1E-5F10-4BB5-9D52-77CB6F59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4" name="Freeform 7">
              <a:extLst>
                <a:ext uri="{FF2B5EF4-FFF2-40B4-BE49-F238E27FC236}">
                  <a16:creationId xmlns:a16="http://schemas.microsoft.com/office/drawing/2014/main" id="{22CEE04C-09CE-41CF-937D-EC2D3C23E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74CF4BA-8DCB-42CF-A2C4-D6AF95EE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67BA8B6E-A28D-4658-8C91-6CA7BD539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15938" y="2505075"/>
            <a:ext cx="5157787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F73B3215-82DB-4DBF-9E77-3AE2308C6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5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8DFD34E8-36CC-4FFE-926B-C170208FE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03383C6B-3BE4-4380-AF26-1C21492FCE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  <p:sp>
        <p:nvSpPr>
          <p:cNvPr id="25" name="Title 1">
            <a:extLst>
              <a:ext uri="{FF2B5EF4-FFF2-40B4-BE49-F238E27FC236}">
                <a16:creationId xmlns:a16="http://schemas.microsoft.com/office/drawing/2014/main" id="{AE3770E9-CB74-47B0-8229-91F6F7560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lIns="0" tIns="0" rIns="0" bIns="0" anchor="b">
            <a:noAutofit/>
          </a:bodyPr>
          <a:lstStyle>
            <a:lvl1pPr>
              <a:defRPr sz="3200" b="1" cap="all" baseline="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4617946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C57825D7-DD33-4B70-BBBE-D46E7A5352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6000" y="768485"/>
            <a:ext cx="5305662" cy="5305662"/>
          </a:xfrm>
          <a:custGeom>
            <a:avLst/>
            <a:gdLst>
              <a:gd name="connsiteX0" fmla="*/ 2652831 w 5305662"/>
              <a:gd name="connsiteY0" fmla="*/ 0 h 5305662"/>
              <a:gd name="connsiteX1" fmla="*/ 5305662 w 5305662"/>
              <a:gd name="connsiteY1" fmla="*/ 2652831 h 5305662"/>
              <a:gd name="connsiteX2" fmla="*/ 2652831 w 5305662"/>
              <a:gd name="connsiteY2" fmla="*/ 5305662 h 5305662"/>
              <a:gd name="connsiteX3" fmla="*/ 0 w 5305662"/>
              <a:gd name="connsiteY3" fmla="*/ 2652831 h 5305662"/>
              <a:gd name="connsiteX4" fmla="*/ 2652831 w 5305662"/>
              <a:gd name="connsiteY4" fmla="*/ 0 h 53056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305662" h="5305662">
                <a:moveTo>
                  <a:pt x="2652831" y="0"/>
                </a:moveTo>
                <a:cubicBezTo>
                  <a:pt x="4117949" y="0"/>
                  <a:pt x="5305662" y="1187713"/>
                  <a:pt x="5305662" y="2652831"/>
                </a:cubicBezTo>
                <a:cubicBezTo>
                  <a:pt x="5305662" y="4117949"/>
                  <a:pt x="4117949" y="5305662"/>
                  <a:pt x="2652831" y="5305662"/>
                </a:cubicBezTo>
                <a:cubicBezTo>
                  <a:pt x="1187713" y="5305662"/>
                  <a:pt x="0" y="4117949"/>
                  <a:pt x="0" y="2652831"/>
                </a:cubicBezTo>
                <a:cubicBezTo>
                  <a:pt x="0" y="1187713"/>
                  <a:pt x="1187713" y="0"/>
                  <a:pt x="2652831" y="0"/>
                </a:cubicBezTo>
                <a:close/>
              </a:path>
            </a:pathLst>
          </a:custGeom>
          <a:solidFill>
            <a:schemeClr val="bg2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/>
              <a:t>Click icon to add picture</a:t>
            </a:r>
            <a:endParaRPr lang="en-US" noProof="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DC2055F-AE3F-46BE-B57E-A0F1A86D1C36}"/>
              </a:ext>
            </a:extLst>
          </p:cNvPr>
          <p:cNvGrpSpPr/>
          <p:nvPr userDrawn="1"/>
        </p:nvGrpSpPr>
        <p:grpSpPr>
          <a:xfrm flipH="1">
            <a:off x="5400786" y="-2003509"/>
            <a:ext cx="8917229" cy="10769768"/>
            <a:chOff x="11114088" y="2241550"/>
            <a:chExt cx="1905000" cy="2354263"/>
          </a:xfrm>
          <a:solidFill>
            <a:schemeClr val="bg2">
              <a:alpha val="91000"/>
            </a:schemeClr>
          </a:solidFill>
        </p:grpSpPr>
        <p:sp>
          <p:nvSpPr>
            <p:cNvPr id="15" name="Freeform 5">
              <a:extLst>
                <a:ext uri="{FF2B5EF4-FFF2-40B4-BE49-F238E27FC236}">
                  <a16:creationId xmlns:a16="http://schemas.microsoft.com/office/drawing/2014/main" id="{C98EF042-A3B8-406D-BC16-153A989F57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68E5FAC9-A660-4D7A-AC84-0A7C8CC3BB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19A1397F-1946-4CBE-9EC5-159C3CBC7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C535F2AB-153E-44A9-97BE-00553BEC17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298D65-1027-4897-A948-DCEEF8FC3D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71857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9F866E5C-B8AA-4805-B232-831BA01AAF16}"/>
              </a:ext>
            </a:extLst>
          </p:cNvPr>
          <p:cNvGrpSpPr/>
          <p:nvPr userDrawn="1"/>
        </p:nvGrpSpPr>
        <p:grpSpPr>
          <a:xfrm rot="8650774" flipH="1" flipV="1">
            <a:off x="7430044" y="-1843126"/>
            <a:ext cx="4436224" cy="5482435"/>
            <a:chOff x="11114088" y="2241550"/>
            <a:chExt cx="1905000" cy="2354263"/>
          </a:xfrm>
          <a:solidFill>
            <a:schemeClr val="bg2">
              <a:alpha val="53000"/>
            </a:schemeClr>
          </a:solidFill>
        </p:grpSpPr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F98614F0-2DA3-4F29-8CB3-D61424AC8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14088" y="2241550"/>
              <a:ext cx="1905000" cy="2354263"/>
            </a:xfrm>
            <a:custGeom>
              <a:avLst/>
              <a:gdLst>
                <a:gd name="T0" fmla="*/ 0 w 447"/>
                <a:gd name="T1" fmla="*/ 264 h 553"/>
                <a:gd name="T2" fmla="*/ 141 w 447"/>
                <a:gd name="T3" fmla="*/ 48 h 553"/>
                <a:gd name="T4" fmla="*/ 414 w 447"/>
                <a:gd name="T5" fmla="*/ 67 h 553"/>
                <a:gd name="T6" fmla="*/ 438 w 447"/>
                <a:gd name="T7" fmla="*/ 98 h 553"/>
                <a:gd name="T8" fmla="*/ 391 w 447"/>
                <a:gd name="T9" fmla="*/ 111 h 553"/>
                <a:gd name="T10" fmla="*/ 94 w 447"/>
                <a:gd name="T11" fmla="*/ 149 h 553"/>
                <a:gd name="T12" fmla="*/ 107 w 447"/>
                <a:gd name="T13" fmla="*/ 424 h 553"/>
                <a:gd name="T14" fmla="*/ 383 w 447"/>
                <a:gd name="T15" fmla="*/ 453 h 553"/>
                <a:gd name="T16" fmla="*/ 393 w 447"/>
                <a:gd name="T17" fmla="*/ 446 h 553"/>
                <a:gd name="T18" fmla="*/ 433 w 447"/>
                <a:gd name="T19" fmla="*/ 449 h 553"/>
                <a:gd name="T20" fmla="*/ 421 w 447"/>
                <a:gd name="T21" fmla="*/ 485 h 553"/>
                <a:gd name="T22" fmla="*/ 194 w 447"/>
                <a:gd name="T23" fmla="*/ 531 h 553"/>
                <a:gd name="T24" fmla="*/ 0 w 447"/>
                <a:gd name="T25" fmla="*/ 264 h 5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47" h="553">
                  <a:moveTo>
                    <a:pt x="0" y="264"/>
                  </a:moveTo>
                  <a:cubicBezTo>
                    <a:pt x="5" y="176"/>
                    <a:pt x="49" y="96"/>
                    <a:pt x="141" y="48"/>
                  </a:cubicBezTo>
                  <a:cubicBezTo>
                    <a:pt x="235" y="0"/>
                    <a:pt x="327" y="9"/>
                    <a:pt x="414" y="67"/>
                  </a:cubicBezTo>
                  <a:cubicBezTo>
                    <a:pt x="425" y="75"/>
                    <a:pt x="439" y="82"/>
                    <a:pt x="438" y="98"/>
                  </a:cubicBezTo>
                  <a:cubicBezTo>
                    <a:pt x="437" y="120"/>
                    <a:pt x="413" y="127"/>
                    <a:pt x="391" y="111"/>
                  </a:cubicBezTo>
                  <a:cubicBezTo>
                    <a:pt x="294" y="40"/>
                    <a:pt x="166" y="56"/>
                    <a:pt x="94" y="149"/>
                  </a:cubicBezTo>
                  <a:cubicBezTo>
                    <a:pt x="30" y="231"/>
                    <a:pt x="36" y="349"/>
                    <a:pt x="107" y="424"/>
                  </a:cubicBezTo>
                  <a:cubicBezTo>
                    <a:pt x="180" y="502"/>
                    <a:pt x="296" y="514"/>
                    <a:pt x="383" y="453"/>
                  </a:cubicBezTo>
                  <a:cubicBezTo>
                    <a:pt x="386" y="451"/>
                    <a:pt x="390" y="449"/>
                    <a:pt x="393" y="446"/>
                  </a:cubicBezTo>
                  <a:cubicBezTo>
                    <a:pt x="407" y="433"/>
                    <a:pt x="420" y="433"/>
                    <a:pt x="433" y="449"/>
                  </a:cubicBezTo>
                  <a:cubicBezTo>
                    <a:pt x="447" y="467"/>
                    <a:pt x="433" y="477"/>
                    <a:pt x="421" y="485"/>
                  </a:cubicBezTo>
                  <a:cubicBezTo>
                    <a:pt x="353" y="537"/>
                    <a:pt x="277" y="553"/>
                    <a:pt x="194" y="531"/>
                  </a:cubicBezTo>
                  <a:cubicBezTo>
                    <a:pt x="79" y="501"/>
                    <a:pt x="1" y="397"/>
                    <a:pt x="0" y="26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2" name="Freeform 6">
              <a:extLst>
                <a:ext uri="{FF2B5EF4-FFF2-40B4-BE49-F238E27FC236}">
                  <a16:creationId xmlns:a16="http://schemas.microsoft.com/office/drawing/2014/main" id="{66D52F08-13EC-4AB4-BB79-89A5395A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12538" y="2590800"/>
              <a:ext cx="835025" cy="1673225"/>
            </a:xfrm>
            <a:custGeom>
              <a:avLst/>
              <a:gdLst>
                <a:gd name="T0" fmla="*/ 0 w 196"/>
                <a:gd name="T1" fmla="*/ 198 h 393"/>
                <a:gd name="T2" fmla="*/ 157 w 196"/>
                <a:gd name="T3" fmla="*/ 8 h 393"/>
                <a:gd name="T4" fmla="*/ 192 w 196"/>
                <a:gd name="T5" fmla="*/ 22 h 393"/>
                <a:gd name="T6" fmla="*/ 167 w 196"/>
                <a:gd name="T7" fmla="*/ 56 h 393"/>
                <a:gd name="T8" fmla="*/ 48 w 196"/>
                <a:gd name="T9" fmla="*/ 198 h 393"/>
                <a:gd name="T10" fmla="*/ 170 w 196"/>
                <a:gd name="T11" fmla="*/ 339 h 393"/>
                <a:gd name="T12" fmla="*/ 193 w 196"/>
                <a:gd name="T13" fmla="*/ 372 h 393"/>
                <a:gd name="T14" fmla="*/ 160 w 196"/>
                <a:gd name="T15" fmla="*/ 387 h 393"/>
                <a:gd name="T16" fmla="*/ 0 w 196"/>
                <a:gd name="T17" fmla="*/ 198 h 3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96" h="393">
                  <a:moveTo>
                    <a:pt x="0" y="198"/>
                  </a:moveTo>
                  <a:cubicBezTo>
                    <a:pt x="0" y="103"/>
                    <a:pt x="64" y="26"/>
                    <a:pt x="157" y="8"/>
                  </a:cubicBezTo>
                  <a:cubicBezTo>
                    <a:pt x="171" y="6"/>
                    <a:pt x="188" y="0"/>
                    <a:pt x="192" y="22"/>
                  </a:cubicBezTo>
                  <a:cubicBezTo>
                    <a:pt x="196" y="41"/>
                    <a:pt x="190" y="52"/>
                    <a:pt x="167" y="56"/>
                  </a:cubicBezTo>
                  <a:cubicBezTo>
                    <a:pt x="95" y="70"/>
                    <a:pt x="47" y="129"/>
                    <a:pt x="48" y="198"/>
                  </a:cubicBezTo>
                  <a:cubicBezTo>
                    <a:pt x="48" y="267"/>
                    <a:pt x="97" y="325"/>
                    <a:pt x="170" y="339"/>
                  </a:cubicBezTo>
                  <a:cubicBezTo>
                    <a:pt x="191" y="343"/>
                    <a:pt x="195" y="354"/>
                    <a:pt x="193" y="372"/>
                  </a:cubicBezTo>
                  <a:cubicBezTo>
                    <a:pt x="190" y="393"/>
                    <a:pt x="174" y="389"/>
                    <a:pt x="160" y="387"/>
                  </a:cubicBezTo>
                  <a:cubicBezTo>
                    <a:pt x="70" y="375"/>
                    <a:pt x="0" y="293"/>
                    <a:pt x="0" y="1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2544236D-8C3A-41EF-9A68-C84A8A7D0F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8451" y="3071813"/>
              <a:ext cx="306388" cy="719138"/>
            </a:xfrm>
            <a:custGeom>
              <a:avLst/>
              <a:gdLst>
                <a:gd name="T0" fmla="*/ 0 w 72"/>
                <a:gd name="T1" fmla="*/ 84 h 169"/>
                <a:gd name="T2" fmla="*/ 20 w 72"/>
                <a:gd name="T3" fmla="*/ 20 h 169"/>
                <a:gd name="T4" fmla="*/ 42 w 72"/>
                <a:gd name="T5" fmla="*/ 9 h 169"/>
                <a:gd name="T6" fmla="*/ 62 w 72"/>
                <a:gd name="T7" fmla="*/ 44 h 169"/>
                <a:gd name="T8" fmla="*/ 62 w 72"/>
                <a:gd name="T9" fmla="*/ 125 h 169"/>
                <a:gd name="T10" fmla="*/ 43 w 72"/>
                <a:gd name="T11" fmla="*/ 159 h 169"/>
                <a:gd name="T12" fmla="*/ 20 w 72"/>
                <a:gd name="T13" fmla="*/ 148 h 169"/>
                <a:gd name="T14" fmla="*/ 0 w 72"/>
                <a:gd name="T15" fmla="*/ 84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72" h="169">
                  <a:moveTo>
                    <a:pt x="0" y="84"/>
                  </a:moveTo>
                  <a:cubicBezTo>
                    <a:pt x="2" y="62"/>
                    <a:pt x="6" y="39"/>
                    <a:pt x="20" y="20"/>
                  </a:cubicBezTo>
                  <a:cubicBezTo>
                    <a:pt x="25" y="13"/>
                    <a:pt x="31" y="0"/>
                    <a:pt x="42" y="9"/>
                  </a:cubicBezTo>
                  <a:cubicBezTo>
                    <a:pt x="53" y="18"/>
                    <a:pt x="72" y="25"/>
                    <a:pt x="62" y="44"/>
                  </a:cubicBezTo>
                  <a:cubicBezTo>
                    <a:pt x="47" y="72"/>
                    <a:pt x="47" y="97"/>
                    <a:pt x="62" y="125"/>
                  </a:cubicBezTo>
                  <a:cubicBezTo>
                    <a:pt x="72" y="143"/>
                    <a:pt x="53" y="151"/>
                    <a:pt x="43" y="159"/>
                  </a:cubicBezTo>
                  <a:cubicBezTo>
                    <a:pt x="31" y="169"/>
                    <a:pt x="25" y="156"/>
                    <a:pt x="20" y="148"/>
                  </a:cubicBezTo>
                  <a:cubicBezTo>
                    <a:pt x="6" y="129"/>
                    <a:pt x="2" y="107"/>
                    <a:pt x="0" y="8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 dirty="0"/>
            </a:p>
          </p:txBody>
        </p: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76627016-BFC4-46D4-89DB-F72E3C3461EC}"/>
              </a:ext>
            </a:extLst>
          </p:cNvPr>
          <p:cNvSpPr/>
          <p:nvPr userDrawn="1"/>
        </p:nvSpPr>
        <p:spPr>
          <a:xfrm rot="10800000">
            <a:off x="515938" y="-16721"/>
            <a:ext cx="1258618" cy="11050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F515B4A-CB20-4847-8E00-0DD66F1FEBB4}"/>
              </a:ext>
            </a:extLst>
          </p:cNvPr>
          <p:cNvSpPr/>
          <p:nvPr userDrawn="1"/>
        </p:nvSpPr>
        <p:spPr>
          <a:xfrm>
            <a:off x="11371669" y="6409397"/>
            <a:ext cx="280051" cy="280051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96B64B9-1DF0-4EE9-BAB5-72AFA94B9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lIns="0" tIns="0" rIns="0" bIns="0"/>
          <a:lstStyle>
            <a:lvl1pPr algn="ctr">
              <a:defRPr sz="900">
                <a:solidFill>
                  <a:schemeClr val="bg1"/>
                </a:solidFill>
                <a:latin typeface="+mn-lt"/>
              </a:defRPr>
            </a:lvl1pPr>
          </a:lstStyle>
          <a:p>
            <a:fld id="{9EC71654-96A5-4280-94F3-931C61A9F92C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9009D5C6-6206-4291-8037-67DC025F0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BEB643FD-AA85-4A43-8EBD-AFD10DD987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noProof="0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9001F313-F798-43BE-AFF0-A68C84C36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1881DEA-0ECB-4310-ADF5-4337ACB433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72046" y="6261436"/>
            <a:ext cx="1073019" cy="41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3102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C4D7FA-B85E-4477-8C62-94955B340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1226BB-3E56-4E7F-8172-7EC03C9F0B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5D08EF-72FB-4F19-9916-65815A9CA99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51F27F-98F9-A147-8986-34441C7B752D}" type="datetime1">
              <a:rPr lang="en-US" noProof="0" smtClean="0"/>
              <a:t>6/1/24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5084D-BC85-4A55-BD80-93876AD101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DEF23-A140-4DD6-A0D0-A86BD4DF34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C71654-96A5-4280-94F3-931C61A9F92C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47082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1" r:id="rId3"/>
    <p:sldLayoutId id="2147483650" r:id="rId4"/>
    <p:sldLayoutId id="2147483661" r:id="rId5"/>
    <p:sldLayoutId id="2147483662" r:id="rId6"/>
    <p:sldLayoutId id="2147483663" r:id="rId7"/>
    <p:sldLayoutId id="2147483654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34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microsoft.com/office/2007/relationships/hdphoto" Target="../media/hdphoto2.wdp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 descr="city scape">
            <a:extLst>
              <a:ext uri="{FF2B5EF4-FFF2-40B4-BE49-F238E27FC236}">
                <a16:creationId xmlns:a16="http://schemas.microsoft.com/office/drawing/2014/main" id="{ABD7F97D-15E8-4032-B615-0562046B754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" b="-1"/>
          <a:stretch/>
        </p:blipFill>
        <p:spPr>
          <a:xfrm>
            <a:off x="710812" y="728545"/>
            <a:ext cx="5305661" cy="5305661"/>
          </a:xfr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0AF709-BC71-0308-4A14-5066D22BD3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424" r="8074" b="-4"/>
          <a:stretch/>
        </p:blipFill>
        <p:spPr>
          <a:xfrm>
            <a:off x="569989" y="603444"/>
            <a:ext cx="5526011" cy="5526011"/>
          </a:xfrm>
          <a:prstGeom prst="ellipse">
            <a:avLst/>
          </a:prstGeom>
          <a:noFill/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E9CEC3D-AB8D-3FF0-F4AE-59818A34746D}"/>
              </a:ext>
            </a:extLst>
          </p:cNvPr>
          <p:cNvSpPr/>
          <p:nvPr/>
        </p:nvSpPr>
        <p:spPr>
          <a:xfrm>
            <a:off x="6236823" y="1231392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51B1AF-7B68-4738-C90B-4C111EF3B762}"/>
              </a:ext>
            </a:extLst>
          </p:cNvPr>
          <p:cNvSpPr txBox="1"/>
          <p:nvPr/>
        </p:nvSpPr>
        <p:spPr>
          <a:xfrm>
            <a:off x="8661654" y="266880"/>
            <a:ext cx="90266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Created by Student:</a:t>
            </a:r>
            <a:r>
              <a:rPr lang="en-US" dirty="0"/>
              <a:t> Yurii Hehediush</a:t>
            </a:r>
          </a:p>
          <a:p>
            <a:r>
              <a:rPr lang="en-US" b="1" dirty="0"/>
              <a:t>Course</a:t>
            </a:r>
            <a:r>
              <a:rPr lang="en-US" dirty="0"/>
              <a:t>: DSC 323</a:t>
            </a:r>
            <a:br>
              <a:rPr lang="en-US" dirty="0"/>
            </a:br>
            <a:r>
              <a:rPr lang="en-US" b="1" dirty="0"/>
              <a:t>Instructor</a:t>
            </a:r>
            <a:r>
              <a:rPr lang="en-US" dirty="0"/>
              <a:t>: Nandhini </a:t>
            </a:r>
            <a:r>
              <a:rPr lang="en-US" dirty="0" err="1"/>
              <a:t>Gulasingam</a:t>
            </a:r>
            <a:r>
              <a:rPr lang="en-US" dirty="0"/>
              <a:t> 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B01AC54A-B003-CDBD-4114-69F93DF8A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3855" y="3535800"/>
            <a:ext cx="5143500" cy="2090808"/>
          </a:xfrm>
        </p:spPr>
        <p:txBody>
          <a:bodyPr anchor="b">
            <a:noAutofit/>
          </a:bodyPr>
          <a:lstStyle/>
          <a:p>
            <a:r>
              <a:rPr lang="en-US" sz="6600" dirty="0">
                <a:solidFill>
                  <a:schemeClr val="accent3">
                    <a:lumMod val="90000"/>
                    <a:lumOff val="10000"/>
                  </a:schemeClr>
                </a:solidFill>
              </a:rPr>
              <a:t>Seoul Bike Sharing Demand Analysis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3576F60-2E11-E8EF-73EF-D37FEE9E3D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3386" y="6129455"/>
            <a:ext cx="4188614" cy="708483"/>
          </a:xfrm>
          <a:prstGeom prst="rect">
            <a:avLst/>
          </a:prstGeom>
        </p:spPr>
      </p:pic>
      <p:sp>
        <p:nvSpPr>
          <p:cNvPr id="2" name="Subtitle 2">
            <a:extLst>
              <a:ext uri="{FF2B5EF4-FFF2-40B4-BE49-F238E27FC236}">
                <a16:creationId xmlns:a16="http://schemas.microsoft.com/office/drawing/2014/main" id="{B7E9E1ED-5002-C458-8706-21B774407F51}"/>
              </a:ext>
            </a:extLst>
          </p:cNvPr>
          <p:cNvSpPr txBox="1">
            <a:spLocks/>
          </p:cNvSpPr>
          <p:nvPr/>
        </p:nvSpPr>
        <p:spPr>
          <a:xfrm>
            <a:off x="1283360" y="5034401"/>
            <a:ext cx="8898636" cy="503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kern="1200" cap="all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Andale Mono" panose="020B0509000000000004" pitchFamily="49" charset="0"/>
                <a:cs typeface="Apple Chancery" panose="03020702040506060504" pitchFamily="66" charset="-79"/>
              </a:rPr>
              <a:t>Predicting Rented Bike Count</a:t>
            </a:r>
          </a:p>
        </p:txBody>
      </p:sp>
    </p:spTree>
    <p:extLst>
      <p:ext uri="{BB962C8B-B14F-4D97-AF65-F5344CB8AC3E}">
        <p14:creationId xmlns:p14="http://schemas.microsoft.com/office/powerpoint/2010/main" val="31671720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EF7BD-FE81-4B20-8DC5-0B3EB736F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949" y="129678"/>
            <a:ext cx="3932237" cy="1600200"/>
          </a:xfrm>
        </p:spPr>
        <p:txBody>
          <a:bodyPr anchor="b">
            <a:normAutofit/>
          </a:bodyPr>
          <a:lstStyle/>
          <a:p>
            <a:r>
              <a:rPr lang="en-US" sz="4000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FF0EFE-C50F-44EB-8978-B97795477C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949" y="2267713"/>
            <a:ext cx="8938196" cy="1310640"/>
          </a:xfrm>
        </p:spPr>
        <p:txBody>
          <a:bodyPr>
            <a:normAutofit/>
          </a:bodyPr>
          <a:lstStyle/>
          <a:p>
            <a:r>
              <a:rPr lang="en-US" sz="2400" b="1" dirty="0"/>
              <a:t>Objective:</a:t>
            </a:r>
            <a:r>
              <a:rPr lang="en-US" sz="2400" dirty="0"/>
              <a:t> Predict the number of bikes rented per hour in Seoul.</a:t>
            </a:r>
          </a:p>
          <a:p>
            <a:r>
              <a:rPr lang="en-US" sz="2400" b="1" dirty="0"/>
              <a:t>Dataset:</a:t>
            </a:r>
            <a:r>
              <a:rPr lang="en-US" sz="2400" dirty="0"/>
              <a:t> Seoul Bike Sharing Demand</a:t>
            </a:r>
          </a:p>
          <a:p>
            <a:endParaRPr lang="en-US" sz="2800" b="1" dirty="0"/>
          </a:p>
          <a:p>
            <a:endParaRPr lang="en-US" sz="2400" dirty="0"/>
          </a:p>
        </p:txBody>
      </p:sp>
      <p:pic>
        <p:nvPicPr>
          <p:cNvPr id="22" name="Picture Placeholder 21" descr="A graph with yellow lines&#10;&#10;Description automatically generated">
            <a:extLst>
              <a:ext uri="{FF2B5EF4-FFF2-40B4-BE49-F238E27FC236}">
                <a16:creationId xmlns:a16="http://schemas.microsoft.com/office/drawing/2014/main" id="{C3CB0B39-486A-CF95-DCBF-9A2C1E80229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3"/>
          <a:srcRect l="12500" r="12500"/>
          <a:stretch>
            <a:fillRect/>
          </a:stretch>
        </p:blipFill>
        <p:spPr>
          <a:xfrm>
            <a:off x="8342652" y="1729878"/>
            <a:ext cx="3398243" cy="3398243"/>
          </a:xfr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98709980-1B78-F98F-9265-1F95DB5CCA3E}"/>
              </a:ext>
            </a:extLst>
          </p:cNvPr>
          <p:cNvSpPr txBox="1"/>
          <p:nvPr/>
        </p:nvSpPr>
        <p:spPr>
          <a:xfrm>
            <a:off x="267949" y="3578353"/>
            <a:ext cx="8074703" cy="189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Key Points: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b="1" dirty="0"/>
              <a:t>Dependent Variable:</a:t>
            </a:r>
            <a:r>
              <a:rPr lang="en-US" sz="2000" dirty="0"/>
              <a:t> Rented Bike Count.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Independent Variables:</a:t>
            </a:r>
            <a:r>
              <a:rPr lang="en-US" sz="2000" dirty="0"/>
              <a:t> Date, Hour, Temperature, Humidity, etc.</a:t>
            </a:r>
          </a:p>
          <a:p>
            <a:pPr>
              <a:lnSpc>
                <a:spcPct val="150000"/>
              </a:lnSpc>
            </a:pPr>
            <a:r>
              <a:rPr lang="en-US" sz="2000" b="1" dirty="0"/>
              <a:t>Total Observations:</a:t>
            </a:r>
            <a:r>
              <a:rPr lang="en-US" sz="2000" dirty="0"/>
              <a:t> 8760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29D4F04-5FEE-91A3-89D5-ACCD23828D27}"/>
              </a:ext>
            </a:extLst>
          </p:cNvPr>
          <p:cNvSpPr/>
          <p:nvPr/>
        </p:nvSpPr>
        <p:spPr>
          <a:xfrm>
            <a:off x="167493" y="6028944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89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6E959E-B23F-467A-9B6E-30F9EE969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EC71654-96A5-4280-94F3-931C61A9F92C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pic>
        <p:nvPicPr>
          <p:cNvPr id="10" name="Picture Placeholder 9" descr="A person holding a bicycle&#10;&#10;Description automatically generated">
            <a:extLst>
              <a:ext uri="{FF2B5EF4-FFF2-40B4-BE49-F238E27FC236}">
                <a16:creationId xmlns:a16="http://schemas.microsoft.com/office/drawing/2014/main" id="{DD19E63D-FCD0-6E49-9DF5-ED810939D81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 rotWithShape="1">
          <a:blip r:embed="rId3"/>
          <a:srcRect l="22584" r="22584"/>
          <a:stretch/>
        </p:blipFill>
        <p:spPr>
          <a:xfrm>
            <a:off x="7934881" y="10"/>
            <a:ext cx="4257120" cy="3901430"/>
          </a:xfr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64C2A7-EC84-4D8C-9CA2-F6AE46F51F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594" y="675936"/>
            <a:ext cx="4937211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Data Preprocessing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E339590E-87E7-AE74-C7EA-2A82CCF719A3}"/>
              </a:ext>
            </a:extLst>
          </p:cNvPr>
          <p:cNvSpPr txBox="1">
            <a:spLocks/>
          </p:cNvSpPr>
          <p:nvPr/>
        </p:nvSpPr>
        <p:spPr>
          <a:xfrm>
            <a:off x="296482" y="2506652"/>
            <a:ext cx="8373392" cy="4351338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Key Actions: </a:t>
            </a:r>
            <a:r>
              <a:rPr lang="en-US" dirty="0"/>
              <a:t>Checked and ensured no missing values.</a:t>
            </a:r>
          </a:p>
          <a:p>
            <a:r>
              <a:rPr lang="en-US" dirty="0"/>
              <a:t>Data Cleaning / Removed special characters from variable names for consistency.</a:t>
            </a:r>
          </a:p>
          <a:p>
            <a:r>
              <a:rPr lang="en-US" dirty="0"/>
              <a:t>Converted categorical variables (e.g., Seasons, Holiday) into dummy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Significance: </a:t>
            </a:r>
            <a:r>
              <a:rPr lang="en-US" dirty="0"/>
              <a:t>Ensures data is clean and suitable for analysis.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Dummy variables allow for better handling in regression models.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F3E099-BD9B-7217-CEA3-6299024B7C5D}"/>
              </a:ext>
            </a:extLst>
          </p:cNvPr>
          <p:cNvSpPr/>
          <p:nvPr/>
        </p:nvSpPr>
        <p:spPr>
          <a:xfrm>
            <a:off x="0" y="6028934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533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C6BAC-F3F8-4AA0-B332-02F6635713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63696" y="6455739"/>
            <a:ext cx="294460" cy="187367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9EC71654-96A5-4280-94F3-931C61A9F92C}" type="slidenum">
              <a:rPr lang="en-US" smtClean="0"/>
              <a:pPr>
                <a:spcAft>
                  <a:spcPts val="600"/>
                </a:spcAft>
              </a:pPr>
              <a:t>4</a:t>
            </a:fld>
            <a:endParaRPr lang="en-US"/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8291C337-3BB8-F140-E0A9-D3C28EA06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80508" y="788920"/>
            <a:ext cx="5183188" cy="823912"/>
          </a:xfrm>
        </p:spPr>
        <p:txBody>
          <a:bodyPr/>
          <a:lstStyle/>
          <a:p>
            <a:r>
              <a:rPr lang="en-US" dirty="0"/>
              <a:t>Visualization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2A9C73-06ED-419B-81B5-491CBFC223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80508" y="1612832"/>
            <a:ext cx="5935292" cy="4998547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Scatter Plot Matrix Interpretation: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/>
              <a:t>Some variables show linear relationships (e.g., Temperature vs. Rented Bike Count).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/>
              <a:t>Noticeable patterns and clusters in the data.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/>
              <a:t>Evidence of potential multicollinearity between variables (e.g., Dew Point Temperature and Temperature).</a:t>
            </a:r>
          </a:p>
          <a:p>
            <a:pPr marL="914400" lvl="2" indent="0">
              <a:buNone/>
            </a:pPr>
            <a:r>
              <a:rPr lang="en-US" sz="1800" b="1" dirty="0"/>
              <a:t>Insights</a:t>
            </a:r>
            <a:r>
              <a:rPr lang="en-US" sz="1800" dirty="0"/>
              <a:t>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/>
              <a:t>Temperature, Wind Speed, and Solar Radiation seem to have a significant impact on bike rentals.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800" dirty="0"/>
              <a:t>Certain variables (e.g., Rainfall, Snowfall) have less visible direct correlation with bike count.</a:t>
            </a:r>
          </a:p>
          <a:p>
            <a:pPr marL="0" indent="0">
              <a:buNone/>
            </a:pPr>
            <a:r>
              <a:rPr lang="en-US" sz="1800" dirty="0"/>
              <a:t>This scatter plot matrix provides an initial understanding of relationships and potential multicollinearity among variables in the dataset.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C50832-0B36-43C5-98EC-4CD165D787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246621"/>
            <a:ext cx="11150600" cy="920336"/>
          </a:xfrm>
        </p:spPr>
        <p:txBody>
          <a:bodyPr anchor="b">
            <a:normAutofit/>
          </a:bodyPr>
          <a:lstStyle/>
          <a:p>
            <a:r>
              <a:rPr lang="en-US" dirty="0"/>
              <a:t>Exploratory Data Analysis (EDA)</a:t>
            </a:r>
            <a:br>
              <a:rPr lang="en-US" dirty="0"/>
            </a:br>
            <a:endParaRPr lang="en-US" dirty="0"/>
          </a:p>
        </p:txBody>
      </p:sp>
      <p:pic>
        <p:nvPicPr>
          <p:cNvPr id="13" name="Picture 12" descr="A screen shot of a graph&#10;&#10;Description automatically generated">
            <a:extLst>
              <a:ext uri="{FF2B5EF4-FFF2-40B4-BE49-F238E27FC236}">
                <a16:creationId xmlns:a16="http://schemas.microsoft.com/office/drawing/2014/main" id="{C9005571-A51A-9C60-1829-7A5CBFDBAC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" y="763348"/>
            <a:ext cx="6096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613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A9A18-93E0-4615-B7AA-B8C8FBB14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7079678" cy="1325563"/>
          </a:xfrm>
        </p:spPr>
        <p:txBody>
          <a:bodyPr/>
          <a:lstStyle/>
          <a:p>
            <a:r>
              <a:rPr lang="en-US" dirty="0"/>
              <a:t>Initial Regression Model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1B32C0-5E61-447F-9557-57AF415D6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5938" y="1391596"/>
            <a:ext cx="6325136" cy="159118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Model </a:t>
            </a:r>
            <a:r>
              <a:rPr lang="en-US" sz="2000" b="1" dirty="0" err="1"/>
              <a:t>Summary</a:t>
            </a:r>
            <a:r>
              <a:rPr lang="en-US" sz="2000" dirty="0" err="1"/>
              <a:t>:</a:t>
            </a:r>
            <a:r>
              <a:rPr lang="en-US" sz="2000" b="1" dirty="0" err="1"/>
              <a:t>R-Square</a:t>
            </a:r>
            <a:r>
              <a:rPr lang="en-US" sz="2000" dirty="0"/>
              <a:t>: 0.4567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Adjusted R-Square</a:t>
            </a:r>
            <a:r>
              <a:rPr lang="en-US" sz="2000" dirty="0"/>
              <a:t>: 0.4561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F-Value</a:t>
            </a:r>
            <a:r>
              <a:rPr lang="en-US" sz="2000" dirty="0"/>
              <a:t>: 668.61 (Significant at p &lt; 0.0001)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/>
              <a:t>Root MSE</a:t>
            </a:r>
            <a:r>
              <a:rPr lang="en-US" sz="2000" dirty="0"/>
              <a:t>: 475.70</a:t>
            </a:r>
            <a:r>
              <a:rPr lang="en-US" sz="2000" b="1" dirty="0"/>
              <a:t>Coefficient of Variation</a:t>
            </a:r>
            <a:r>
              <a:rPr lang="en-US" sz="2000" dirty="0"/>
              <a:t>: 67.51%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  <a:p>
            <a:pPr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DDBFEE-BC50-46CF-AB8F-D145B99B57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6D865D5-DBC3-6FB5-05F1-14200A41CFB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7042" r="7042"/>
          <a:stretch>
            <a:fillRect/>
          </a:stretch>
        </p:blipFill>
        <p:spPr>
          <a:xfrm>
            <a:off x="8040973" y="1391596"/>
            <a:ext cx="4074807" cy="40748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14509E0-A9FA-73A8-7F4F-6E57DFFDD0E7}"/>
              </a:ext>
            </a:extLst>
          </p:cNvPr>
          <p:cNvSpPr txBox="1"/>
          <p:nvPr/>
        </p:nvSpPr>
        <p:spPr>
          <a:xfrm>
            <a:off x="-447881" y="2982779"/>
            <a:ext cx="8266176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>
              <a:lnSpc>
                <a:spcPct val="150000"/>
              </a:lnSpc>
            </a:pPr>
            <a:r>
              <a:rPr lang="en-US" b="1" dirty="0"/>
              <a:t>Data tell us: </a:t>
            </a:r>
            <a:r>
              <a:rPr lang="en-US" dirty="0"/>
              <a:t>The model explains approximately 45.67% of the variance in the Rented Bike Count.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The high F-Value indicates that the model is statistically significant.</a:t>
            </a:r>
          </a:p>
          <a:p>
            <a:pPr lvl="2">
              <a:lnSpc>
                <a:spcPct val="150000"/>
              </a:lnSpc>
            </a:pPr>
            <a:r>
              <a:rPr lang="en-US" dirty="0"/>
              <a:t>The Root MSE suggests that there is considerable variability in the data that the model does not capture.</a:t>
            </a:r>
          </a:p>
          <a:p>
            <a:pPr lvl="2">
              <a:lnSpc>
                <a:spcPct val="150000"/>
              </a:lnSpc>
            </a:pPr>
            <a:endParaRPr lang="en-US" dirty="0"/>
          </a:p>
          <a:p>
            <a:pPr lvl="2">
              <a:lnSpc>
                <a:spcPct val="150000"/>
              </a:lnSpc>
            </a:pPr>
            <a:r>
              <a:rPr lang="en-US" dirty="0"/>
              <a:t>These points summarize the initial regression model, highlighting its explanatory power and statistical significance.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E12921-9796-47AD-DD4A-C97AA9C52F7B}"/>
              </a:ext>
            </a:extLst>
          </p:cNvPr>
          <p:cNvSpPr/>
          <p:nvPr/>
        </p:nvSpPr>
        <p:spPr>
          <a:xfrm>
            <a:off x="1" y="6263640"/>
            <a:ext cx="2308860" cy="5943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30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013443-29A4-A87A-C87E-6C2820A19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Residual Analysis</a:t>
            </a:r>
            <a:br>
              <a:rPr lang="en-US" dirty="0"/>
            </a:br>
            <a:r>
              <a:rPr lang="en-US" dirty="0"/>
              <a:t>                                  </a:t>
            </a:r>
            <a:r>
              <a:rPr lang="en-US" sz="1600" dirty="0"/>
              <a:t>for initial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C21B76-FB0A-E138-13F2-4CEAE09534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464" y="1984121"/>
            <a:ext cx="4937211" cy="2453767"/>
          </a:xfrm>
        </p:spPr>
        <p:txBody>
          <a:bodyPr/>
          <a:lstStyle/>
          <a:p>
            <a:r>
              <a:rPr lang="en-US" b="1" dirty="0"/>
              <a:t>Checking Residuals</a:t>
            </a:r>
            <a:r>
              <a:rPr lang="en-US" dirty="0"/>
              <a:t>: Residuals are plotted to examine the difference between observed and predicted values.</a:t>
            </a:r>
          </a:p>
          <a:p>
            <a:r>
              <a:rPr lang="en-US" b="1" dirty="0"/>
              <a:t>Assessing Model Fit</a:t>
            </a:r>
            <a:r>
              <a:rPr lang="en-US" dirty="0"/>
              <a:t>: Residual plots help assess the model fit and identify potential issues with the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BD035F-039A-C7EC-5353-E0C8CAE77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6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12A30B5-F882-E128-CABC-0196566150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0512" y="171237"/>
            <a:ext cx="4410456" cy="330784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A5A0AB6-A2A3-2659-09C4-9F31A75BF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7453" y="3593816"/>
            <a:ext cx="4107029" cy="309294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B0D949-4FE1-F44E-3A7F-1E2E80989319}"/>
              </a:ext>
            </a:extLst>
          </p:cNvPr>
          <p:cNvSpPr txBox="1"/>
          <p:nvPr/>
        </p:nvSpPr>
        <p:spPr>
          <a:xfrm>
            <a:off x="515938" y="4758220"/>
            <a:ext cx="698214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 Fit</a:t>
            </a:r>
            <a:r>
              <a:rPr lang="en-US" dirty="0"/>
              <a:t>: The residuals for most predictors appear randomly scattered around zero, suggesting a generally good fit. However, some variables show patterns indicating potential issues like heteroscedasticity or unmodeled relationships.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0EA8BE-7012-0DDD-6DE2-3FD10FF0BA96}"/>
              </a:ext>
            </a:extLst>
          </p:cNvPr>
          <p:cNvSpPr/>
          <p:nvPr/>
        </p:nvSpPr>
        <p:spPr>
          <a:xfrm>
            <a:off x="0" y="5989197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4043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688804-AFB5-A3AA-B811-A4C4D1657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3960868-45BF-0B77-F3F2-D3F7B2118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960" y="500062"/>
            <a:ext cx="9066974" cy="1325563"/>
          </a:xfrm>
        </p:spPr>
        <p:txBody>
          <a:bodyPr/>
          <a:lstStyle/>
          <a:p>
            <a:r>
              <a:rPr lang="en-US" dirty="0"/>
              <a:t>Influential Points and Diagnostics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0B0DA2-97B8-24AF-027B-340925E70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5051" y="1825625"/>
            <a:ext cx="4639043" cy="3368167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A7601EE8-9D86-646A-3B31-C38867254E4E}"/>
              </a:ext>
            </a:extLst>
          </p:cNvPr>
          <p:cNvSpPr txBox="1">
            <a:spLocks/>
          </p:cNvSpPr>
          <p:nvPr/>
        </p:nvSpPr>
        <p:spPr>
          <a:xfrm>
            <a:off x="217327" y="2198084"/>
            <a:ext cx="7215152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/>
              <a:t>Purpose</a:t>
            </a:r>
            <a:r>
              <a:rPr lang="en-US" dirty="0"/>
              <a:t>: Identify influential points and outliers to improve model accuracy.</a:t>
            </a:r>
          </a:p>
          <a:p>
            <a:r>
              <a:rPr lang="en-US" b="1" dirty="0"/>
              <a:t>Tools Used</a:t>
            </a:r>
            <a:r>
              <a:rPr lang="en-US" dirty="0"/>
              <a:t>: Cook's distance, leverage, and studentized residuals.</a:t>
            </a:r>
          </a:p>
          <a:p>
            <a:r>
              <a:rPr lang="en-US" b="1" dirty="0"/>
              <a:t>Action</a:t>
            </a:r>
            <a:r>
              <a:rPr lang="en-US" dirty="0"/>
              <a:t>: Refine the model by addressing these influential points for better predictions.</a:t>
            </a:r>
          </a:p>
          <a:p>
            <a:r>
              <a:rPr lang="en-US" b="1" dirty="0"/>
              <a:t>Removing Insignificant Predictors: </a:t>
            </a:r>
            <a:r>
              <a:rPr lang="en-US" dirty="0"/>
              <a:t>Visibility, </a:t>
            </a:r>
            <a:r>
              <a:rPr lang="en-US" dirty="0" err="1"/>
              <a:t>Dew_Point</a:t>
            </a:r>
            <a:r>
              <a:rPr lang="en-US" dirty="0"/>
              <a:t>, and Snowfall as they have p-values &gt; 0.5</a:t>
            </a:r>
          </a:p>
          <a:p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7B06BE7-8B20-84BF-D5E2-663842EA1C17}"/>
              </a:ext>
            </a:extLst>
          </p:cNvPr>
          <p:cNvSpPr txBox="1"/>
          <p:nvPr/>
        </p:nvSpPr>
        <p:spPr>
          <a:xfrm>
            <a:off x="217327" y="5897477"/>
            <a:ext cx="113533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Residual Plots:</a:t>
            </a:r>
            <a:r>
              <a:rPr lang="en-US" dirty="0"/>
              <a:t> Displaying residuals vs. predicted values to assess model fit and identify potential influential points.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00B7AEE-5C0B-C612-C619-EF8665264707}"/>
              </a:ext>
            </a:extLst>
          </p:cNvPr>
          <p:cNvSpPr/>
          <p:nvPr/>
        </p:nvSpPr>
        <p:spPr>
          <a:xfrm>
            <a:off x="39831" y="6266808"/>
            <a:ext cx="2166159" cy="55583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559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42FCF1B-5EEF-A510-BC96-A85D8253C7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8C32CD-E365-D4AE-29B2-9AB469D35D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379" y="2118803"/>
            <a:ext cx="7457630" cy="3684588"/>
          </a:xfrm>
        </p:spPr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Refinement:</a:t>
            </a:r>
            <a:r>
              <a:rPr lang="en-US" dirty="0"/>
              <a:t> The improvements made in the previous step have enhanced the model.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Adjusted R-Square:</a:t>
            </a:r>
            <a:r>
              <a:rPr lang="en-US" dirty="0"/>
              <a:t> The model's Adjusted R-Square improved to 0.4788, indicating a better fit.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Significant Predictors:</a:t>
            </a:r>
            <a:r>
              <a:rPr lang="en-US" dirty="0"/>
              <a:t> Temperature, Humidity, Wind Speed, Solar Radiation, Rainfall, Warm Season, and Holiday Flag are significant predictors.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2777FA8-1BEA-AA1B-C528-C8EB63D40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Model Refinement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6D21125-9C94-45B2-1DEF-7CF0004DFE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8009" y="126760"/>
            <a:ext cx="4585710" cy="368458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819C280-F375-F9EB-714F-765B41A6D8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0212" y="3811348"/>
            <a:ext cx="3547944" cy="2926791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F1667DD0-F5B6-C9A9-1BBE-C60DA37D6C89}"/>
              </a:ext>
            </a:extLst>
          </p:cNvPr>
          <p:cNvSpPr/>
          <p:nvPr/>
        </p:nvSpPr>
        <p:spPr>
          <a:xfrm>
            <a:off x="0" y="6028944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170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27D61E-1E19-2CD2-DE79-294D3371D3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selection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1A13A6-65DA-990E-BAC5-38702FF27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825158"/>
            <a:ext cx="7359719" cy="5623678"/>
          </a:xfrm>
        </p:spPr>
        <p:txBody>
          <a:bodyPr/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 Selection </a:t>
            </a:r>
            <a:r>
              <a:rPr lang="en-US" b="1" dirty="0" err="1"/>
              <a:t>Methods</a:t>
            </a:r>
            <a:r>
              <a:rPr lang="en-US" dirty="0" err="1"/>
              <a:t>:Testing</a:t>
            </a:r>
            <a:r>
              <a:rPr lang="en-US" dirty="0"/>
              <a:t> both STEPWISE and CP methods to identify the best model for our data.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Final Model </a:t>
            </a:r>
            <a:r>
              <a:rPr lang="en-US" b="1" dirty="0" err="1"/>
              <a:t>Choice</a:t>
            </a:r>
            <a:r>
              <a:rPr lang="en-US" dirty="0" err="1"/>
              <a:t>:Selected</a:t>
            </a:r>
            <a:r>
              <a:rPr lang="en-US" dirty="0"/>
              <a:t> the STEPWISE method.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Model </a:t>
            </a:r>
            <a:r>
              <a:rPr lang="en-US" b="1" dirty="0" err="1"/>
              <a:t>Improvement</a:t>
            </a:r>
            <a:r>
              <a:rPr lang="en-US" dirty="0" err="1"/>
              <a:t>:Adjusted</a:t>
            </a:r>
            <a:r>
              <a:rPr lang="en-US" dirty="0"/>
              <a:t> R-Square improved from 0.4561 (initial model) to 0.4788, indicating a better fit and improved model accuracy.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26ADDC2-A568-F6D2-5D66-2F31FDB5A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9</a:t>
            </a:fld>
            <a:endParaRPr lang="en-US" noProof="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A899B4-0743-4243-09B2-1D49650476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9719" y="1380563"/>
            <a:ext cx="4597247" cy="416774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7339A8-6DA9-ABE3-CFD3-F56154FFD9D7}"/>
              </a:ext>
            </a:extLst>
          </p:cNvPr>
          <p:cNvSpPr/>
          <p:nvPr/>
        </p:nvSpPr>
        <p:spPr>
          <a:xfrm>
            <a:off x="0" y="6028944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1451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EA539-3BDB-15CB-52D9-2FB4EE140C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Train-Test Split</a:t>
            </a:r>
            <a:br>
              <a:rPr lang="en-US" dirty="0"/>
            </a:br>
            <a:r>
              <a:rPr lang="en-US" dirty="0"/>
              <a:t>                              </a:t>
            </a:r>
            <a:r>
              <a:rPr lang="en-US" sz="1600" dirty="0"/>
              <a:t>for Model Validation</a:t>
            </a:r>
            <a:br>
              <a:rPr lang="en-US" dirty="0"/>
            </a:b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883275-3852-0225-D6B2-1CECF0C4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10</a:t>
            </a:fld>
            <a:endParaRPr lang="en-US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40694EE-E716-1A22-D4B2-0BDBE4403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497" y="425339"/>
            <a:ext cx="4070864" cy="304265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22A4440-96B4-5C20-0D39-4568001C38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66890" y="3511515"/>
            <a:ext cx="3886200" cy="2900704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E7238A4C-95D8-7AF4-7616-610A19DFCFF8}"/>
              </a:ext>
            </a:extLst>
          </p:cNvPr>
          <p:cNvSpPr txBox="1">
            <a:spLocks/>
          </p:cNvSpPr>
          <p:nvPr/>
        </p:nvSpPr>
        <p:spPr>
          <a:xfrm>
            <a:off x="138910" y="1825158"/>
            <a:ext cx="7644920" cy="44108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Training Set: 70% of Data          </a:t>
            </a:r>
          </a:p>
          <a:p>
            <a:pPr marL="457200" lvl="1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800" b="1" dirty="0">
                <a:solidFill>
                  <a:schemeClr val="accent3">
                    <a:lumMod val="75000"/>
                    <a:lumOff val="25000"/>
                  </a:schemeClr>
                </a:solidFill>
              </a:rPr>
              <a:t>Testing Set: 30% of Data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Training Set Performance: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R-Square: 0.4792 / Adjusted R-Square: 0.4788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Indicates that nearly 48% of the variance in the rented bike count can be explained by the model using the training data.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2000" b="1" dirty="0"/>
              <a:t>Testing Set Performance:</a:t>
            </a:r>
            <a:endParaRPr lang="en-US" sz="2000" dirty="0"/>
          </a:p>
          <a:p>
            <a:pPr>
              <a:lnSpc>
                <a:spcPct val="100000"/>
              </a:lnSpc>
            </a:pPr>
            <a:r>
              <a:rPr lang="en-US" sz="2000" dirty="0"/>
              <a:t>R-Square: 0.5022 / Adjusted R-Square: 0.5007</a:t>
            </a:r>
          </a:p>
          <a:p>
            <a:pPr>
              <a:lnSpc>
                <a:spcPct val="100000"/>
              </a:lnSpc>
            </a:pPr>
            <a:r>
              <a:rPr lang="en-US" sz="2000" dirty="0"/>
              <a:t>Shows an improvement in model performance on the testing set, indicating that the model generalizes well to unseen data.</a:t>
            </a:r>
          </a:p>
          <a:p>
            <a:pPr marL="457200" lvl="1" indent="0">
              <a:buFont typeface="Arial" panose="020B0604020202020204" pitchFamily="34" charset="0"/>
              <a:buNone/>
            </a:pPr>
            <a:endParaRPr lang="en-US" sz="2400" dirty="0"/>
          </a:p>
          <a:p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50BE791-00CA-A647-4C43-41DC2E51CEE1}"/>
              </a:ext>
            </a:extLst>
          </p:cNvPr>
          <p:cNvSpPr/>
          <p:nvPr/>
        </p:nvSpPr>
        <p:spPr>
          <a:xfrm>
            <a:off x="0" y="6028944"/>
            <a:ext cx="2517033" cy="8290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3580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A8F7F-D3B4-93DF-37B8-E6F70A9A3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9416732" cy="1325563"/>
          </a:xfrm>
        </p:spPr>
        <p:txBody>
          <a:bodyPr/>
          <a:lstStyle/>
          <a:p>
            <a:r>
              <a:rPr lang="en-US" b="1" dirty="0"/>
              <a:t>Stepwise Method</a:t>
            </a:r>
            <a:r>
              <a:rPr lang="en-US" dirty="0"/>
              <a:t> Final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53906-174D-1CD0-464F-C73EA71A3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8627900" cy="435133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Improvement:</a:t>
            </a:r>
            <a:r>
              <a:rPr lang="en-US" dirty="0"/>
              <a:t> The final model was built by sequentially adding significant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Variable Inclusion: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Temperature (R-Square = 0.3376)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Humidity (R-Square = 0.4391)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Rainfall (R-Square = 0.4520)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Solar Radiation (R-Square = 0.4630)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Wind Speed (R-Square = 0.4700)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Holiday Flag (R-Square = 0.4746)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Warm Season (R-Square = 0.4792)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Performance:</a:t>
            </a:r>
            <a:r>
              <a:rPr lang="en-US" dirty="0"/>
              <a:t> The final adjusted R-Square of 0.4788 indicates an improved fit compared to the initial model.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E6B3DA-54FF-BF4D-D77B-795AEB0BB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BCAC9B-45E5-1739-6D47-2028ECF31B4C}"/>
              </a:ext>
            </a:extLst>
          </p:cNvPr>
          <p:cNvSpPr/>
          <p:nvPr/>
        </p:nvSpPr>
        <p:spPr>
          <a:xfrm>
            <a:off x="0" y="6176963"/>
            <a:ext cx="2517033" cy="6933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Placeholder 13" descr="A person riding a bicycle on a road&#10;&#10;Description automatically generated">
            <a:extLst>
              <a:ext uri="{FF2B5EF4-FFF2-40B4-BE49-F238E27FC236}">
                <a16:creationId xmlns:a16="http://schemas.microsoft.com/office/drawing/2014/main" id="{6F2F6B92-6582-7651-D52B-96934120469E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alphaModFix amt="33000"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71000"/>
                    </a14:imgEffect>
                  </a14:imgLayer>
                </a14:imgProps>
              </a:ext>
            </a:extLst>
          </a:blip>
          <a:srcRect l="21875" r="21875"/>
          <a:stretch>
            <a:fillRect/>
          </a:stretch>
        </p:blipFill>
        <p:spPr>
          <a:xfrm>
            <a:off x="8346757" y="2183129"/>
            <a:ext cx="3845243" cy="3845243"/>
          </a:xfrm>
        </p:spPr>
      </p:pic>
    </p:spTree>
    <p:extLst>
      <p:ext uri="{BB962C8B-B14F-4D97-AF65-F5344CB8AC3E}">
        <p14:creationId xmlns:p14="http://schemas.microsoft.com/office/powerpoint/2010/main" val="24950601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6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F8454-0C60-3FC7-55EC-A42C35181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Predictions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414D21-9F50-122C-5C9E-18FCD996C1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8960" y="1825625"/>
            <a:ext cx="7267730" cy="4351338"/>
          </a:xfrm>
        </p:spPr>
        <p:txBody>
          <a:bodyPr/>
          <a:lstStyle/>
          <a:p>
            <a:r>
              <a:rPr lang="en-US" sz="1800" b="1" dirty="0"/>
              <a:t>Purpose</a:t>
            </a:r>
            <a:r>
              <a:rPr lang="en-US" sz="1800" dirty="0"/>
              <a:t>: To predict the '</a:t>
            </a:r>
            <a:r>
              <a:rPr lang="en-US" sz="1800" dirty="0" err="1"/>
              <a:t>Rented_Bike_Count</a:t>
            </a:r>
            <a:r>
              <a:rPr lang="en-US" sz="1800" dirty="0"/>
              <a:t>' based on specific values of the independent variables.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Observation 1:Input Values:</a:t>
            </a:r>
            <a:r>
              <a:rPr lang="en-US" sz="1800" dirty="0"/>
              <a:t> Temperature = 25°C, Humidity = 60%, Wind Speed = 3 m/s, Solar Radiation = 1.2 MJ/m2, Rainfall = 0 mm, No Holiday, Warm Season.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Predicted Count:</a:t>
            </a:r>
            <a:r>
              <a:rPr lang="en-US" sz="1800" dirty="0">
                <a:highlight>
                  <a:srgbClr val="FFFF00"/>
                </a:highlight>
              </a:rPr>
              <a:t> 1108.04 bikes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b="1" dirty="0"/>
              <a:t>Observation 2:Input Values:</a:t>
            </a:r>
            <a:r>
              <a:rPr lang="en-US" sz="1800" dirty="0"/>
              <a:t> Temperature = 30°C, Humidity = 55%, Wind Speed = 2 m/s, Solar Radiation = 1.8 MJ/m2, Rainfall = 0 mm, No Holiday, Warm Season.</a:t>
            </a:r>
          </a:p>
          <a:p>
            <a:pPr marL="0" indent="0">
              <a:buNone/>
            </a:pPr>
            <a:r>
              <a:rPr lang="en-US" sz="1800" b="1" dirty="0">
                <a:highlight>
                  <a:srgbClr val="FFFF00"/>
                </a:highlight>
              </a:rPr>
              <a:t>Predicted Count:</a:t>
            </a:r>
            <a:r>
              <a:rPr lang="en-US" sz="1800" dirty="0">
                <a:highlight>
                  <a:srgbClr val="FFFF00"/>
                </a:highlight>
              </a:rPr>
              <a:t> 1220.90 bikes.</a:t>
            </a:r>
          </a:p>
          <a:p>
            <a:pPr marL="0" indent="0">
              <a:buNone/>
            </a:pPr>
            <a:r>
              <a:rPr lang="en-US" sz="1800" b="1" dirty="0"/>
              <a:t>Model's Reliability: </a:t>
            </a:r>
            <a:r>
              <a:rPr lang="en-US" sz="1800" dirty="0"/>
              <a:t>The predictions provide a reasonable estimate of bike rentals under given weather and seasonal conditions.</a:t>
            </a:r>
          </a:p>
          <a:p>
            <a:pPr marL="0" indent="0">
              <a:buNone/>
            </a:pPr>
            <a:r>
              <a:rPr lang="en-US" sz="1800" b="1" dirty="0"/>
              <a:t>Implications: </a:t>
            </a:r>
            <a:r>
              <a:rPr lang="en-US" sz="1800" dirty="0"/>
              <a:t>These predictions can help in resource planning and decision-making for bike-sharing services based on forecasted weather conditions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FAA266-D8CF-5610-5A81-6AD7F173B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12</a:t>
            </a:fld>
            <a:endParaRPr lang="en-US" noProof="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FBBC7839-34F8-9776-205A-146CD8B35E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0130" y="499595"/>
            <a:ext cx="6234748" cy="120148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22AD82C8-95E9-853F-4C97-238EEB65E75A}"/>
              </a:ext>
            </a:extLst>
          </p:cNvPr>
          <p:cNvSpPr/>
          <p:nvPr/>
        </p:nvSpPr>
        <p:spPr>
          <a:xfrm>
            <a:off x="0" y="6176964"/>
            <a:ext cx="2517033" cy="681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1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58C76-6339-01CC-AE4C-91D0417AE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8" y="499595"/>
            <a:ext cx="8445182" cy="1325563"/>
          </a:xfrm>
        </p:spPr>
        <p:txBody>
          <a:bodyPr/>
          <a:lstStyle/>
          <a:p>
            <a:r>
              <a:rPr lang="en-US" b="1" dirty="0"/>
              <a:t>Summary of Findings: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DB818B-46FD-A80F-72DB-B75091647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C71654-96A5-4280-94F3-931C61A9F92C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D7FD611-47E7-4FA2-3138-455527B29C2F}"/>
              </a:ext>
            </a:extLst>
          </p:cNvPr>
          <p:cNvSpPr txBox="1">
            <a:spLocks/>
          </p:cNvSpPr>
          <p:nvPr/>
        </p:nvSpPr>
        <p:spPr>
          <a:xfrm>
            <a:off x="173119" y="1253331"/>
            <a:ext cx="7439261" cy="43513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Initial Model:</a:t>
            </a:r>
            <a:r>
              <a:rPr lang="en-US" dirty="0"/>
              <a:t> Adjusted R-Square = 0.4561, indicating moderate explanatory power.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Refinement:</a:t>
            </a:r>
            <a:r>
              <a:rPr lang="en-US" dirty="0"/>
              <a:t> Removal of outliers and influential points improved Adjusted R-Square to 0.4788.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Final Model:</a:t>
            </a:r>
            <a:r>
              <a:rPr lang="en-US" dirty="0"/>
              <a:t> Stepwise selection method chosen for optimal model, achieving Adjusted R-Square = 0.4788.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Train-Test Split:</a:t>
            </a:r>
            <a:r>
              <a:rPr lang="en-US" dirty="0"/>
              <a:t> 70% training, 30% testing to validate model accuracy.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Model Validation:</a:t>
            </a:r>
            <a:r>
              <a:rPr lang="en-US" dirty="0"/>
              <a:t> Testing set Adjusted R-Square = 0.5007, indicating strong predictive performance.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Predictions:</a:t>
            </a:r>
            <a:r>
              <a:rPr lang="en-US" dirty="0"/>
              <a:t> Model effectively predicts bike rentals based on weather and seasonal variables, aiding in resource planning.</a:t>
            </a:r>
          </a:p>
          <a:p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DC67682-9390-F940-D670-DEE27A123932}"/>
              </a:ext>
            </a:extLst>
          </p:cNvPr>
          <p:cNvSpPr/>
          <p:nvPr/>
        </p:nvSpPr>
        <p:spPr>
          <a:xfrm>
            <a:off x="0" y="6176964"/>
            <a:ext cx="2517033" cy="6810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44898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9B0EC6D-03DD-4CEE-9979-34A964DCA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0F9F51E-A3D5-4726-BACE-D5CDD8A4642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yhehediu@depaul.edu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91501E1-4EA1-44EB-AF62-6F74678A233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https://</a:t>
            </a:r>
            <a:r>
              <a:rPr lang="en-US" dirty="0" err="1"/>
              <a:t>www.depaul.edu</a:t>
            </a:r>
            <a:r>
              <a:rPr lang="en-US" dirty="0"/>
              <a:t>/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EDB55DF-365D-643A-81F5-1C8815B7A80E}"/>
              </a:ext>
            </a:extLst>
          </p:cNvPr>
          <p:cNvSpPr/>
          <p:nvPr/>
        </p:nvSpPr>
        <p:spPr>
          <a:xfrm>
            <a:off x="6309860" y="1810704"/>
            <a:ext cx="2834140" cy="90963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Placeholder 21" descr="A blue and white logo&#10;&#10;Description automatically generated">
            <a:extLst>
              <a:ext uri="{FF2B5EF4-FFF2-40B4-BE49-F238E27FC236}">
                <a16:creationId xmlns:a16="http://schemas.microsoft.com/office/drawing/2014/main" id="{CD8651D2-E25E-9584-63CF-59B60428FC82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/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92880249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ntoso v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C567A"/>
      </a:accent1>
      <a:accent2>
        <a:srgbClr val="0072C7"/>
      </a:accent2>
      <a:accent3>
        <a:srgbClr val="0D1D51"/>
      </a:accent3>
      <a:accent4>
        <a:srgbClr val="666666"/>
      </a:accent4>
      <a:accent5>
        <a:srgbClr val="3C76A6"/>
      </a:accent5>
      <a:accent6>
        <a:srgbClr val="1E44BC"/>
      </a:accent6>
      <a:hlink>
        <a:srgbClr val="0563C1"/>
      </a:hlink>
      <a:folHlink>
        <a:srgbClr val="954F72"/>
      </a:folHlink>
    </a:clrScheme>
    <a:fontScheme name="Contoso v1">
      <a:majorFont>
        <a:latin typeface="Corbe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34076243_Blue spheres presentation_RVA_v5" id="{E4C0B511-76E7-4C07-AFEA-8FEA0A5A8C84}" vid="{3A463146-28EF-4F73-B63C-03710F66E2A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31071E6-22AE-499A-B09C-BF21CF5F748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EA9B47F-3DD8-4645-81DC-B88780643C0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B0C07E3D-60A7-4F4E-8208-D9CCD01982C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139</TotalTime>
  <Words>1089</Words>
  <Application>Microsoft Macintosh PowerPoint</Application>
  <PresentationFormat>Widescreen</PresentationFormat>
  <Paragraphs>119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Andale Mono</vt:lpstr>
      <vt:lpstr>Arial</vt:lpstr>
      <vt:lpstr>Calibri</vt:lpstr>
      <vt:lpstr>Corbel</vt:lpstr>
      <vt:lpstr>Office Theme</vt:lpstr>
      <vt:lpstr>Seoul Bike Sharing Demand Analysis</vt:lpstr>
      <vt:lpstr>Introduction</vt:lpstr>
      <vt:lpstr>Data Preprocessing</vt:lpstr>
      <vt:lpstr>Exploratory Data Analysis (EDA) </vt:lpstr>
      <vt:lpstr>Initial Regression Model </vt:lpstr>
      <vt:lpstr>Residual Analysis                                   for initial model</vt:lpstr>
      <vt:lpstr>Influential Points and Diagnostics</vt:lpstr>
      <vt:lpstr>Model Refinement</vt:lpstr>
      <vt:lpstr>Model selection</vt:lpstr>
      <vt:lpstr>Train-Test Split                               for Model Validation </vt:lpstr>
      <vt:lpstr>Stepwise Method Final Model</vt:lpstr>
      <vt:lpstr>Predictions</vt:lpstr>
      <vt:lpstr>Summary of Findings: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Hehediush, Yurii</dc:creator>
  <cp:lastModifiedBy>Hehediush, Yurii</cp:lastModifiedBy>
  <cp:revision>4</cp:revision>
  <dcterms:created xsi:type="dcterms:W3CDTF">2024-06-01T04:09:41Z</dcterms:created>
  <dcterms:modified xsi:type="dcterms:W3CDTF">2024-06-01T17:08:13Z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